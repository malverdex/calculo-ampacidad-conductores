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64" r:id="rId2"/>
    <p:sldId id="288" r:id="rId3"/>
    <p:sldId id="269" r:id="rId4"/>
    <p:sldId id="275" r:id="rId5"/>
    <p:sldId id="267" r:id="rId6"/>
    <p:sldId id="277" r:id="rId7"/>
    <p:sldId id="272" r:id="rId8"/>
    <p:sldId id="278" r:id="rId9"/>
    <p:sldId id="279" r:id="rId10"/>
    <p:sldId id="280" r:id="rId11"/>
    <p:sldId id="287" r:id="rId12"/>
    <p:sldId id="281" r:id="rId13"/>
    <p:sldId id="282" r:id="rId14"/>
    <p:sldId id="283" r:id="rId15"/>
    <p:sldId id="261" r:id="rId16"/>
    <p:sldId id="285" r:id="rId17"/>
  </p:sldIdLst>
  <p:sldSz cx="9144000" cy="6858000" type="screen4x3"/>
  <p:notesSz cx="7010400" cy="9236075"/>
  <p:defaultTextStyle>
    <a:defPPr>
      <a:defRPr lang="es-C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59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5388" y="692150"/>
            <a:ext cx="4619625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387136"/>
            <a:ext cx="5608320" cy="4156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CL" noProof="0"/>
              <a:t>Haga clic para modificar el estilo de texto del patrón</a:t>
            </a:r>
          </a:p>
          <a:p>
            <a:pPr lvl="1"/>
            <a:r>
              <a:rPr lang="es-CL" noProof="0"/>
              <a:t>Segundo nivel</a:t>
            </a:r>
          </a:p>
          <a:p>
            <a:pPr lvl="2"/>
            <a:r>
              <a:rPr lang="es-CL" noProof="0"/>
              <a:t>Tercer nivel</a:t>
            </a:r>
          </a:p>
          <a:p>
            <a:pPr lvl="3"/>
            <a:r>
              <a:rPr lang="es-CL" noProof="0"/>
              <a:t>Cuarto nivel</a:t>
            </a:r>
          </a:p>
          <a:p>
            <a:pPr lvl="4"/>
            <a:r>
              <a:rPr lang="es-CL" noProof="0"/>
              <a:t>Quinto nivel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668"/>
            <a:ext cx="3037840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772668"/>
            <a:ext cx="3037840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A692ED4-E716-4393-97F6-471B7E95C570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EE1DDA44-2BC2-4DBB-BE35-476E094F7121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pPr>
              <a:defRPr/>
            </a:pPr>
            <a:fld id="{1F757B37-B5D0-4D9D-BB91-55490942D009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7B667E7-97EC-4AA0-9DF6-DFA2835E49D8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E93323-7A6B-4AB6-B10E-38D9D2C60114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Marcador de contenido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23 Marcador de contenido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6" name="25 Marcador de contenido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5" name="24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0F068652-D5BF-4D8A-835C-45B460411A82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23" name="22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pPr>
              <a:defRPr/>
            </a:pPr>
            <a:fld id="{1C4B7AAB-8108-4BB3-9331-AFCF0E82E8DA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5 Rectángulo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‹Nº›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01A32C4D-200D-4AC8-9D56-79264FB561E7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pPr>
              <a:defRPr/>
            </a:pPr>
            <a:endParaRPr lang="es-C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20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pPr>
              <a:defRPr/>
            </a:pPr>
            <a:fld id="{D5070D79-27E7-46C7-8A7B-8D7BD009C264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pPr>
              <a:defRPr/>
            </a:pPr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588D82-8D29-4AC9-95E0-51E88F2D9E9E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pPr>
              <a:defRPr/>
            </a:pPr>
            <a:fld id="{ECD47053-1EC3-4114-BF59-5B3E6630E440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223F84DE-9F6C-4794-AD4F-F2D65EBDF37B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</a:t>
            </a:fld>
            <a:endParaRPr lang="es-CL"/>
          </a:p>
        </p:txBody>
      </p:sp>
      <p:sp>
        <p:nvSpPr>
          <p:cNvPr id="11266" name="AutoShape 2" descr="data:image/jpeg;base64,/9j/4AAQSkZJRgABAQAAAQABAAD/2wCEAAkGBwgHBgkIBwgKCgkLDRYPDQwMDRsUFRAWIB0iIiAdHx8kKDQsJCYxJx8fLT0tMTU3Ojo6Iys/RD84QzQ5OjcBCgoKDQwNGg8PGjclHyU3Nzc3Nzc3Nzc3Nzc3Nzc3Nzc3Nzc3Nzc3Nzc3Nzc3Nzc3Nzc3Nzc3Nzc3Nzc3Nzc3N//AABEIAFoAgwMBEQACEQEDEQH/xAAcAAACAgMBAQAAAAAAAAAAAAAABgUHAQMEAgj/xAA4EAABAwMDAgMGBAYCAwEAAAABAgMEAAURBhIhMUETIlEHFGFxgZEVMkKyI1JiobHBJIIlM3IW/8QAGgEBAAMBAQEAAAAAAAAAAAAAAAMEBQIBBv/EADERAAICAQIEAwcEAgMAAAAAAAABAgMRBBITITFBUWHwBSJxgZGhsRQzwdEyQiMk4f/aAAwDAQACEQMRAD8Ao2gCgCgCgCgCgO+y2p+8XKPBjqQhbywkLcJCU5IGT9xXjaQLQY9kMKM82xcro+46sK/9KUtgYzjrk4wPgRkcc8Z2p106k3FdCeulS6npfsqs72BGnT2twPLmxW3naAU4GSVcdagp9pWzliSR1KhJcmI2t9GStIymGnpTUpD4O1baSCCMZSR689ia1oT3xyV2sCvXZ4FAFAFAFAFAFAFAFAFAFAFAO/s20f8A/oZK5c1OYEdW3YCMvOYJAxkEpGOcc8geuKmr1PBjy6klcNzLE1odIQZEFL6I8KQ9uQtotHhONu7A/L/LuzjjH6fLTrnddW3HqidcOEufQiLdqW+XIXCeG23YTSgxA3NhKJJKthcK3MkkIHTIGSBjjFSaiEG4qfJvr5fTzPak+bXNL7knPav7b6pVmujbhQkqVHfZCm3SMHKVfmHQdCenbGKo0WVQe2yOPXh0LV2nclurZqbmQbpfLe1qFCI8uWylwMkYbUoAANtrPlwcknBzg4ySavqUpNyT5L1lopzjsjhrmzi9p+kWLpGdvVojlE5obpTbTZCXhgqUpI7bR3/UB34z7TrFv2S6PoRyr5ZRTZrRITFAFAFAFAFAFAFAFAFAekBSlpSgEqJwAOpNOgPouHDa0to9hDm33WGwXXVJ5JI5UQRxhRGQCDgn5Y+c/U8fUOPd+vt3LnD2wyUvDL+rNTuS7koFCleK+OQkIB4QMdOwrclimvESCuPEnzLOmulpuNHipTGT4QAUlO0YAJO3HIAxwPlWNHnJyfP13Nratu1cjcpiZaYcWSpsuOzMJ8NW5fiKSnfuJVxu2hYzgZyO4FdKUbU01iK79PSIv8Zra+eOhDaxtgvlij/hZPvEZ1amkKXtUnkHac8gnPGT27VJpZumxufRnGord0Pd6oYdDXty9WVtU8KVcI7xYfbXkKLgI820EZUcjJOAPlmq+rq4VnudHz+Xx9ZKcJZWGU7rm0CyammxEIKGt/iNJ27QEq5wB6A5H0rb01nEqUn1K01iWCAqc5CgCgCgCgCgCgCgCgJDT4Sq/W0L/KZbQPy3io7f25fA9XUvj2quKb9n0zZlKtrQJISCMqSDwDxkE9M96+b9m7Hq+XmXr88MqvS7S4tlYkeJ4aZFwbKiBklCOMH6qNb1rzNrwTIqo4gpeaGm7yJnuQttuUBcpEFUkObvMloLKPCZHUuEpyT2A4qpVVW3un0X58WWLrrJS2QMaAuEi4z59p1Wl6UpMTx2mrgzwwSQFFKVdMpUOcZ9OvPes/4a91aK9HvzSbGmQHAh1yUlTLDKC44WiOEpKdu76JIOM4+HArLjZvaSeX0/JrOMa/eIL2R3Zdx1DqOalCkNSXW3PD5wnPifTPHerPtRcGmEfD/wy6Xvsk0LPtuKDq1koxn3RO7Geu9fXPerfsqTlp8vxItQsTK9rSIAoAoAoAoAoAoDOKAZNNaJu+oNi2WgxGUeH3sgHp0HU9aq36ymjlJ8yaFE580M149mS7AqG6bmourUkhwNYCFE4Hc9FlH0JNRvVp/68mvX2ye8HzLIktx79pQtOpw0+ztKEjG3joMZyU/DuK+aTlp9Vnwfr6mhGPFqwVi+w6plVvXHTHbiq2+EnhIycHJ7nOTnvX00ZRWLE85K2HJbMYSJvTep27HbjYtRRjcbWhxQbfR5lsKJGM5PAyeFA5BxUdlbse+D+Xr8HLg4cpfUnG2RaFJbtkdK/fQHH5D7gW8vr+dQGSQMfUk1m2XcbLm8Y7Gjp9Mo819TqubhTAfky1eVLalLIwPLglQ9MYqtS82KMfEs2YjB+SIz2M2v8OsD0+QlCVy1b8nqEAeXPp+o/JQqf2zqFKxVrt69fAyNLXhbmLOu4CdSa2iMok4Mhwxk484bQgncT/2KgB6JrU0C4dGEvP6la33p5OXUnsmvNnaU/FcbmspGSB5Fj6ZI/vk9hU71dcZbZ8jnhSayiv3G1tOKbcQpC0kpUlQwQR1Bq11WURnigCgCgJexWNd2TIX44aQygknbuJISVYxx/Lj5kcVFZaq8J9ySFbn0I+XGXEkux3NpU0spUUnIOPSpIvKTRxJYeGMmkbQ0l9ufcoynWQTsaIAClDpuz26/aq2os5OMXhk9VfNSa5FrWY6he8GVEfiqjqSD7uU4QU9BhW0nPxyrvWHc9MswlF58e/5/ou4seJRl/RxXKZcrg6iO7/z5ZdLbbDTJbaCTtyS6TwPy57EjAGeKtV4cfBJfF/T18SN4jz6tnixSZmnbm7bL4pCjJWFsOoTtTlXOznBAyVEE8k7h1xmDV0w1EeJV26/367YJKJOEsS7nm+MW+bIW8ULUEJCyWFBPm6IHTGScAcZ6+nHejldCKT+/r18zvUcOLNVujRCxlra4l05Kyc+IM57/AOK9usmpc+xcoVco+7zJdB53FQBz5RmqMufItPkuZolzHl2uXLjuNOtxFYfGT/DGNyiRjnygkc9qtU6XGJPln0jO1Gsim4x5+J0Sb23CtaERFpQ6pIDIBPl9CB3A4446gdxVaGllZbmfr167ntjioJRF+2Wy7WN2HLusbxMs/wACYljxVY5OHOpHAzgZGTyQTitayeVmp48s/gz6tuds1y8R0jXe7Trcp5LDT2UAthSnE78jv5SU9f6u/TFZuo2Tnib6evXQninBJwK41vbFXeSC5AZhSWkqG9K92/0BPTHB+PP0Ono7I1x5SbTIbq5WPokytX470dzw32ltr/lUMGtRNNZRQawTZ0w6LAm6e8IKlEbWNvJG3dnOfT4Y+NR8ZcTZgk4b27hfqUjGXR8wNLEcKCXFymlJOAcjkEf4+VVtRFtZ8mS1PD+aLidsunrcwxIZZhxlKQlSnyhIwSOpV1A4J61jW23SmorLNCEK4psr3SbX46IsBuf4UhL5StRbCw6fMruRjcARnmtO/FTcmuT+3QqQk5JR8Doi69kaQl3G2+4F4+8lQBe2htO0AJA2n5npz86is0ENQoyb7fU8d8otpI22D2ixG7uLlMSuOlKinwAtTg2kDGOO2FDp3T6V09E4pKPMK/OdxCa+185qh4IjRhHioztK8FasgZz2AyM9znvU9GkjS2+7I53SkR8PWMxq0fh76A7tUXEO7vOV7SAVZznB2kf/ADjvUvAhv3+B5xHtwddi9ol0s8YRUsxpEdPRCwRj5YNQXaGu2W7LTOoXyisHfK9qtzcQUxbfCjKP60hR/wB4qNezKv8AaTZ3+qn2SI2wa7n2p64vPASFy20gAkBKVBYVkjHIwCPr1FWp6euUNmORDxJZyyHt1/lwpbTvldZbUD7uvlG0fp9QMEj613KqMuoVkksFl3/2q2+96ebjhlceS4Ql9BGdqQMnaR1zjaDxjOe1UHo58ZS7ImVy2teJAQvajKh2Z6A1ACFuoXufQ/hQWrPmHl7cd+1ST0EJz3NnPHljBNSlNtWpm8TErbjyipKWxglYQk7lk5yMHy9+cY61EqnnYupNxVlsYNFtWLUNuKpyY0hHiKPhOBKwgdenOM8nnB5NQTVlVuDvfCcMifqyTEtV5vsGOWm4seN4cdkJSCFqIScHGeiflg1dhFzSfmQOSX0Kyq8VjIJHSgPS3XF43rUrHTcc0AyaDjSZV2AgXJqHLQQ4hLqCoOBJ3dvl/mqmtnGFeZxyifTwc54i8M6tfaduVveF2uEpqWZjpC1tJKdqsZAIPqM/Y5rnRaqq5bYLGDrUaedXOXcTqulYbNH6FnapivSWJDMZptfhhTwPnVjJxj0yPvVPU66vTSUZLLJ6qJWLKIzUljTY7oq2pmtTJDZ2uBlCgEq48vPU89qnpt4sN6WERzhtltJ2J7OprVtFy1HPi2SGenvOVOq9MIHf4Zz8Kheri5ba1uZ2qXjMuRzI0/pV1YbZ1mAs8JL9scQj6q3HH2qTi2d6/ujnZDtI133Q11skdqc+qPJtayn/AJ8NfitpBOAT3/t8KQ1EJvC6+AlW49Sej+yWbMt7c2DeIL7brQcawlY3gjI6jjNVZe0q4S2yTRKtNJrKZXS0KQpSVpKVJOCkjBB9K0SsdVpgPXS4x4MYZdfcCE+g+J+A61xZYq4OcuiOoRc5KKHvV1iuVv07FRdr5EVFiJLUdtthQUsk7tucd8cn4c1n6bWV324hF59eZZt00qoZkyukrUlQUklKh0I4IrTKgKcWs5WoqJ7k5oDzQBQBQDDoI41REP8AS5+xVVtYs0P5fkm0/wC6vXYsG2OI1loYxnVAyC34alH9LyOUk/Pj6E1kTX6PWbv9X+GaMf8AsabHdFRojvLlJjJaV46l+GG8YO7OMfPNb7aSy+hkpNvCLm0VIahah/AIqwpi128pcUOi31rSXD98D4YNfPaxOVHHl1lL7YeDToSVnDXZfcxpSysS/aHqC8SkJWIsrYwlXICzyVfQdPnUmq1Dr01dce6I6qt1spPsIPtMvz171VLBcUY0NZYYRngBJwo/MkE/b0rT0VSrpXi+ZVvnumxT5q2Qkum/zE6ZXYAs+6qkh/lXTA/KB6Z5+YqPhR4nE74O9727S0NH3/8ADpWm7c8vDM61JSM9nErXt+4JH2rF1dPEhZNdYy+2EXaZ7XGL7oTfaxZk23UqpbCcR7hl4Y6Bf6x98H/tV/2dfxqFnquRX1VXDs+Jx6a/8NY7hf1DD6h7nBP9ah51D5J/3Xd64tsaO3V/BdPqz2r3ISs+SG32rKB03BT6SU/sVWd7KX/NP13Leu/biVRW6ZYUAUAUAUBO6JONRxj6Bf7TUGq/aZLR+4iU9m13MG7KhOKwzLGBk9HB+X78j7VX9o0cSvcuqJtHbsnjsyeu1tj2fUE3UxSnwG2fGaR2MlXl/wA+b61Wrud9MaO75P4InnWqrJW9l0+Jweyd5Tl8uL7qipxbG5Sj1JKwTXftaK4MUvH+Dj2fztefD+UNulLilOoNSRM/xBM8bHcggD/X96o62pumqflgs6aSdk4+ZU2p47kXUVyadGFCSs/ME5B+oIrd08lOmLXgjLui42ST8Tnttyk21wuRS3lQwoOMocBHyUCKknBTWGcxk49C0dXORWNEJnQrfBjSJDbW5TcZGU7wNwHFYel3vVuuUm0s932NK9RVCmksvHYS9TPOMQtMvNKKHG4CVIUOoIWSDWlp0nO1Px/hFO3kofD+WPV+QnWmjGZDCQZJSl5oDs4OFp/cPtWXp3+j1Tg+nrBfsj+ooUl1EDWMhtp6NZYqsxrY34ZI6LdPK1ffj6VraSLadsusufy7IoahpNVrpH89xo9pjviWKMPSSn9qqpezo7bZfD+SzrXmESs61zOCgCgCgCgGHScm22+SZk2SUugFKEBtRx8SQKr6iNk47YomplCLzIjbgqOxci7anypoL3tnaUlBzkDn09amjlx99EcsJ+6TOq9SC8RYbDOQkJ8R5OP19MfTn71W02m4UpP1gmuv4iSOrQt1tVjS/ImTdr7yQjww0o7Ug56478VHrabLsRiuSJNLbCrMpPmabxfGIupfxywzCpbpy40ttQ7AEHPVJx9KkrpcqeFaiOdijbvrZ13a56f1U229KeXa7ikbStTZWhQ9Mjr8zioqab9Nyj70foySyyq/m+UiJbstnbWFS9Qxi0OoYaWpRHw44qd3Wv8AxrIlXWusyX1HquBdorVnipWxCBSFSHEklKU9MJHNVtNo51TdsnmRNdqYziq4rCNGqZlhuNrhtQJjgegt+G2lTKsOJ44JxweM/U1JpoXQnJzXJ8zi+dUopRfTkatKao/BrZOiuEkkeJGGP19CPl0P0NdarSK6cZfX4CjUcKLQvQvBkTgbhILbSlbnHCkqJ9enc1allR91FdYb5jhqK8Wa7W1UcTtrgUFtnwl/mGeDx0wTVLT021Ty0Wrra7I4TFWM3blxh7wtTTuF8gk4wE7eMdyVfar5TOSWlpMl1MclTIWrw1HqU54/tQGmgCgCgCgCgCgM5PrQGKAKAKAKAzk+tAYoAoDOaAMmgMdaAKA//9k="/>
          <p:cNvSpPr>
            <a:spLocks noChangeAspect="1" noChangeArrowheads="1"/>
          </p:cNvSpPr>
          <p:nvPr/>
        </p:nvSpPr>
        <p:spPr bwMode="auto">
          <a:xfrm>
            <a:off x="0" y="-879475"/>
            <a:ext cx="2581275" cy="17716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1268" name="AutoShape 4" descr="data:image/jpeg;base64,/9j/4AAQSkZJRgABAQAAAQABAAD/2wCEAAkGBwgHBgkIBwgKCgkLDRYPDQwMDRsUFRAWIB0iIiAdHx8kKDQsJCYxJx8fLT0tMTU3Ojo6Iys/RD84QzQ5OjcBCgoKDQwNGg8PGjclHyU3Nzc3Nzc3Nzc3Nzc3Nzc3Nzc3Nzc3Nzc3Nzc3Nzc3Nzc3Nzc3Nzc3Nzc3Nzc3Nzc3N//AABEIAFoAgwMBEQACEQEDEQH/xAAcAAACAgMBAQAAAAAAAAAAAAAABgUHAQMEAgj/xAA4EAABAwMDAgMGBAYCAwEAAAABAgMEAAURBhIhMUETIlEHFGFxgZEVMkKyI1JiobHBJIIlM3IW/8QAGgEBAAMBAQEAAAAAAAAAAAAAAAMEBQIBBv/EADERAAICAQIEAwcEAgMAAAAAAAABAgMRBBITITFBUWHwBSJxgZGhsRQzwdEyQiMk4f/aAAwDAQACEQMRAD8Ao2gCgCgCgCgCgO+y2p+8XKPBjqQhbywkLcJCU5IGT9xXjaQLQY9kMKM82xcro+46sK/9KUtgYzjrk4wPgRkcc8Z2p106k3FdCeulS6npfsqs72BGnT2twPLmxW3naAU4GSVcdagp9pWzliSR1KhJcmI2t9GStIymGnpTUpD4O1baSCCMZSR689ia1oT3xyV2sCvXZ4FAFAFAFAFAFAFAFAFAFAFAO/s20f8A/oZK5c1OYEdW3YCMvOYJAxkEpGOcc8geuKmr1PBjy6klcNzLE1odIQZEFL6I8KQ9uQtotHhONu7A/L/LuzjjH6fLTrnddW3HqidcOEufQiLdqW+XIXCeG23YTSgxA3NhKJJKthcK3MkkIHTIGSBjjFSaiEG4qfJvr5fTzPak+bXNL7knPav7b6pVmujbhQkqVHfZCm3SMHKVfmHQdCenbGKo0WVQe2yOPXh0LV2nclurZqbmQbpfLe1qFCI8uWylwMkYbUoAANtrPlwcknBzg4ySavqUpNyT5L1lopzjsjhrmzi9p+kWLpGdvVojlE5obpTbTZCXhgqUpI7bR3/UB34z7TrFv2S6PoRyr5ZRTZrRITFAFAFAFAFAFAFAFAFAekBSlpSgEqJwAOpNOgPouHDa0to9hDm33WGwXXVJ5JI5UQRxhRGQCDgn5Y+c/U8fUOPd+vt3LnD2wyUvDL+rNTuS7koFCleK+OQkIB4QMdOwrclimvESCuPEnzLOmulpuNHipTGT4QAUlO0YAJO3HIAxwPlWNHnJyfP13Nratu1cjcpiZaYcWSpsuOzMJ8NW5fiKSnfuJVxu2hYzgZyO4FdKUbU01iK79PSIv8Zra+eOhDaxtgvlij/hZPvEZ1amkKXtUnkHac8gnPGT27VJpZumxufRnGord0Pd6oYdDXty9WVtU8KVcI7xYfbXkKLgI820EZUcjJOAPlmq+rq4VnudHz+Xx9ZKcJZWGU7rm0CyammxEIKGt/iNJ27QEq5wB6A5H0rb01nEqUn1K01iWCAqc5CgCgCgCgCgCgCgCgJDT4Sq/W0L/KZbQPy3io7f25fA9XUvj2quKb9n0zZlKtrQJISCMqSDwDxkE9M96+b9m7Hq+XmXr88MqvS7S4tlYkeJ4aZFwbKiBklCOMH6qNb1rzNrwTIqo4gpeaGm7yJnuQttuUBcpEFUkObvMloLKPCZHUuEpyT2A4qpVVW3un0X58WWLrrJS2QMaAuEi4z59p1Wl6UpMTx2mrgzwwSQFFKVdMpUOcZ9OvPes/4a91aK9HvzSbGmQHAh1yUlTLDKC44WiOEpKdu76JIOM4+HArLjZvaSeX0/JrOMa/eIL2R3Zdx1DqOalCkNSXW3PD5wnPifTPHerPtRcGmEfD/wy6Xvsk0LPtuKDq1koxn3RO7Geu9fXPerfsqTlp8vxItQsTK9rSIAoAoAoAoAoAoDOKAZNNaJu+oNi2WgxGUeH3sgHp0HU9aq36ymjlJ8yaFE580M149mS7AqG6bmourUkhwNYCFE4Hc9FlH0JNRvVp/68mvX2ye8HzLIktx79pQtOpw0+ztKEjG3joMZyU/DuK+aTlp9Vnwfr6mhGPFqwVi+w6plVvXHTHbiq2+EnhIycHJ7nOTnvX00ZRWLE85K2HJbMYSJvTep27HbjYtRRjcbWhxQbfR5lsKJGM5PAyeFA5BxUdlbse+D+Xr8HLg4cpfUnG2RaFJbtkdK/fQHH5D7gW8vr+dQGSQMfUk1m2XcbLm8Y7Gjp9Mo819TqubhTAfky1eVLalLIwPLglQ9MYqtS82KMfEs2YjB+SIz2M2v8OsD0+QlCVy1b8nqEAeXPp+o/JQqf2zqFKxVrt69fAyNLXhbmLOu4CdSa2iMok4Mhwxk484bQgncT/2KgB6JrU0C4dGEvP6la33p5OXUnsmvNnaU/FcbmspGSB5Fj6ZI/vk9hU71dcZbZ8jnhSayiv3G1tOKbcQpC0kpUlQwQR1Bq11WURnigCgCgJexWNd2TIX44aQygknbuJISVYxx/Lj5kcVFZaq8J9ySFbn0I+XGXEkux3NpU0spUUnIOPSpIvKTRxJYeGMmkbQ0l9ufcoynWQTsaIAClDpuz26/aq2os5OMXhk9VfNSa5FrWY6he8GVEfiqjqSD7uU4QU9BhW0nPxyrvWHc9MswlF58e/5/ou4seJRl/RxXKZcrg6iO7/z5ZdLbbDTJbaCTtyS6TwPy57EjAGeKtV4cfBJfF/T18SN4jz6tnixSZmnbm7bL4pCjJWFsOoTtTlXOznBAyVEE8k7h1xmDV0w1EeJV26/367YJKJOEsS7nm+MW+bIW8ULUEJCyWFBPm6IHTGScAcZ6+nHejldCKT+/r18zvUcOLNVujRCxlra4l05Kyc+IM57/AOK9usmpc+xcoVco+7zJdB53FQBz5RmqMufItPkuZolzHl2uXLjuNOtxFYfGT/DGNyiRjnygkc9qtU6XGJPln0jO1Gsim4x5+J0Sb23CtaERFpQ6pIDIBPl9CB3A4446gdxVaGllZbmfr167ntjioJRF+2Wy7WN2HLusbxMs/wACYljxVY5OHOpHAzgZGTyQTitayeVmp48s/gz6tuds1y8R0jXe7Trcp5LDT2UAthSnE78jv5SU9f6u/TFZuo2Tnib6evXQninBJwK41vbFXeSC5AZhSWkqG9K92/0BPTHB+PP0Ono7I1x5SbTIbq5WPokytX470dzw32ltr/lUMGtRNNZRQawTZ0w6LAm6e8IKlEbWNvJG3dnOfT4Y+NR8ZcTZgk4b27hfqUjGXR8wNLEcKCXFymlJOAcjkEf4+VVtRFtZ8mS1PD+aLidsunrcwxIZZhxlKQlSnyhIwSOpV1A4J61jW23SmorLNCEK4psr3SbX46IsBuf4UhL5StRbCw6fMruRjcARnmtO/FTcmuT+3QqQk5JR8Doi69kaQl3G2+4F4+8lQBe2htO0AJA2n5npz86is0ENQoyb7fU8d8otpI22D2ixG7uLlMSuOlKinwAtTg2kDGOO2FDp3T6V09E4pKPMK/OdxCa+185qh4IjRhHioztK8FasgZz2AyM9znvU9GkjS2+7I53SkR8PWMxq0fh76A7tUXEO7vOV7SAVZznB2kf/ADjvUvAhv3+B5xHtwddi9ol0s8YRUsxpEdPRCwRj5YNQXaGu2W7LTOoXyisHfK9qtzcQUxbfCjKP60hR/wB4qNezKv8AaTZ3+qn2SI2wa7n2p64vPASFy20gAkBKVBYVkjHIwCPr1FWp6euUNmORDxJZyyHt1/lwpbTvldZbUD7uvlG0fp9QMEj613KqMuoVkksFl3/2q2+96ebjhlceS4Ql9BGdqQMnaR1zjaDxjOe1UHo58ZS7ImVy2teJAQvajKh2Z6A1ACFuoXufQ/hQWrPmHl7cd+1ST0EJz3NnPHljBNSlNtWpm8TErbjyipKWxglYQk7lk5yMHy9+cY61EqnnYupNxVlsYNFtWLUNuKpyY0hHiKPhOBKwgdenOM8nnB5NQTVlVuDvfCcMifqyTEtV5vsGOWm4seN4cdkJSCFqIScHGeiflg1dhFzSfmQOSX0Kyq8VjIJHSgPS3XF43rUrHTcc0AyaDjSZV2AgXJqHLQQ4hLqCoOBJ3dvl/mqmtnGFeZxyifTwc54i8M6tfaduVveF2uEpqWZjpC1tJKdqsZAIPqM/Y5rnRaqq5bYLGDrUaedXOXcTqulYbNH6FnapivSWJDMZptfhhTwPnVjJxj0yPvVPU66vTSUZLLJ6qJWLKIzUljTY7oq2pmtTJDZ2uBlCgEq48vPU89qnpt4sN6WERzhtltJ2J7OprVtFy1HPi2SGenvOVOq9MIHf4Zz8Kheri5ba1uZ2qXjMuRzI0/pV1YbZ1mAs8JL9scQj6q3HH2qTi2d6/ujnZDtI133Q11skdqc+qPJtayn/AJ8NfitpBOAT3/t8KQ1EJvC6+AlW49Sej+yWbMt7c2DeIL7brQcawlY3gjI6jjNVZe0q4S2yTRKtNJrKZXS0KQpSVpKVJOCkjBB9K0SsdVpgPXS4x4MYZdfcCE+g+J+A61xZYq4OcuiOoRc5KKHvV1iuVv07FRdr5EVFiJLUdtthQUsk7tucd8cn4c1n6bWV324hF59eZZt00qoZkyukrUlQUklKh0I4IrTKgKcWs5WoqJ7k5oDzQBQBQDDoI41REP8AS5+xVVtYs0P5fkm0/wC6vXYsG2OI1loYxnVAyC34alH9LyOUk/Pj6E1kTX6PWbv9X+GaMf8AsabHdFRojvLlJjJaV46l+GG8YO7OMfPNb7aSy+hkpNvCLm0VIahah/AIqwpi128pcUOi31rSXD98D4YNfPaxOVHHl1lL7YeDToSVnDXZfcxpSysS/aHqC8SkJWIsrYwlXICzyVfQdPnUmq1Dr01dce6I6qt1spPsIPtMvz171VLBcUY0NZYYRngBJwo/MkE/b0rT0VSrpXi+ZVvnumxT5q2Qkum/zE6ZXYAs+6qkh/lXTA/KB6Z5+YqPhR4nE74O9727S0NH3/8ADpWm7c8vDM61JSM9nErXt+4JH2rF1dPEhZNdYy+2EXaZ7XGL7oTfaxZk23UqpbCcR7hl4Y6Bf6x98H/tV/2dfxqFnquRX1VXDs+Jx6a/8NY7hf1DD6h7nBP9ah51D5J/3Xd64tsaO3V/BdPqz2r3ISs+SG32rKB03BT6SU/sVWd7KX/NP13Leu/biVRW6ZYUAUAUAUBO6JONRxj6Bf7TUGq/aZLR+4iU9m13MG7KhOKwzLGBk9HB+X78j7VX9o0cSvcuqJtHbsnjsyeu1tj2fUE3UxSnwG2fGaR2MlXl/wA+b61Wrud9MaO75P4InnWqrJW9l0+Jweyd5Tl8uL7qipxbG5Sj1JKwTXftaK4MUvH+Dj2fztefD+UNulLilOoNSRM/xBM8bHcggD/X96o62pumqflgs6aSdk4+ZU2p47kXUVyadGFCSs/ME5B+oIrd08lOmLXgjLui42ST8Tnttyk21wuRS3lQwoOMocBHyUCKknBTWGcxk49C0dXORWNEJnQrfBjSJDbW5TcZGU7wNwHFYel3vVuuUm0s932NK9RVCmksvHYS9TPOMQtMvNKKHG4CVIUOoIWSDWlp0nO1Px/hFO3kofD+WPV+QnWmjGZDCQZJSl5oDs4OFp/cPtWXp3+j1Tg+nrBfsj+ooUl1EDWMhtp6NZYqsxrY34ZI6LdPK1ffj6VraSLadsusufy7IoahpNVrpH89xo9pjviWKMPSSn9qqpezo7bZfD+SzrXmESs61zOCgCgCgCgGHScm22+SZk2SUugFKEBtRx8SQKr6iNk47YomplCLzIjbgqOxci7anypoL3tnaUlBzkDn09amjlx99EcsJ+6TOq9SC8RYbDOQkJ8R5OP19MfTn71W02m4UpP1gmuv4iSOrQt1tVjS/ImTdr7yQjww0o7Ug56478VHrabLsRiuSJNLbCrMpPmabxfGIupfxywzCpbpy40ttQ7AEHPVJx9KkrpcqeFaiOdijbvrZ13a56f1U229KeXa7ikbStTZWhQ9Mjr8zioqab9Nyj70foySyyq/m+UiJbstnbWFS9Qxi0OoYaWpRHw44qd3Wv8AxrIlXWusyX1HquBdorVnipWxCBSFSHEklKU9MJHNVtNo51TdsnmRNdqYziq4rCNGqZlhuNrhtQJjgegt+G2lTKsOJ44JxweM/U1JpoXQnJzXJ8zi+dUopRfTkatKao/BrZOiuEkkeJGGP19CPl0P0NdarSK6cZfX4CjUcKLQvQvBkTgbhILbSlbnHCkqJ9enc1allR91FdYb5jhqK8Wa7W1UcTtrgUFtnwl/mGeDx0wTVLT021Ty0Wrra7I4TFWM3blxh7wtTTuF8gk4wE7eMdyVfar5TOSWlpMl1MclTIWrw1HqU54/tQGmgCgCgCgCgCgM5PrQGKAKAKAKAzk+tAYoAoDOaAMmgMdaAKA//9k="/>
          <p:cNvSpPr>
            <a:spLocks noChangeAspect="1" noChangeArrowheads="1"/>
          </p:cNvSpPr>
          <p:nvPr/>
        </p:nvSpPr>
        <p:spPr bwMode="auto">
          <a:xfrm>
            <a:off x="0" y="-879475"/>
            <a:ext cx="2581275" cy="17716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8" name="7 Imagen" descr="icolor_azl_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16632"/>
            <a:ext cx="1656184" cy="2007009"/>
          </a:xfrm>
          <a:prstGeom prst="rect">
            <a:avLst/>
          </a:prstGeom>
        </p:spPr>
      </p:pic>
      <p:pic>
        <p:nvPicPr>
          <p:cNvPr id="9" name="8 Imagen" descr="DIE_Simbol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32240" y="188640"/>
            <a:ext cx="2216496" cy="1440160"/>
          </a:xfrm>
          <a:prstGeom prst="rect">
            <a:avLst/>
          </a:prstGeom>
        </p:spPr>
      </p:pic>
      <p:sp>
        <p:nvSpPr>
          <p:cNvPr id="10" name="9 Rectángulo"/>
          <p:cNvSpPr/>
          <p:nvPr/>
        </p:nvSpPr>
        <p:spPr>
          <a:xfrm>
            <a:off x="179512" y="2492896"/>
            <a:ext cx="876922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Cálculo de capacidad de transmisión de Líneas</a:t>
            </a:r>
            <a:endParaRPr lang="es-ES" sz="4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CFF8-B513-B641-D26E-F9FDBDE9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E12981DE-B6D4-F680-29B0-F65864CE2E8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6659A596-9479-7C38-6F2B-B0E73111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2</a:t>
            </a:fld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3B94C1C-F698-3D09-6A02-20A73D1CF2D4}"/>
              </a:ext>
            </a:extLst>
          </p:cNvPr>
          <p:cNvSpPr txBox="1"/>
          <p:nvPr/>
        </p:nvSpPr>
        <p:spPr>
          <a:xfrm>
            <a:off x="2915816" y="3284984"/>
            <a:ext cx="52783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/>
              <a:t>Conocer la metodología para calcular la capacidad de transmisión de las líneas eléctricas y obtener sus valores.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ED1E1C-D7B0-A48C-B275-FADB0379D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485" y="187713"/>
            <a:ext cx="3769568" cy="250184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endParaRPr lang="es-CL" sz="6000" b="1" dirty="0">
              <a:solidFill>
                <a:schemeClr val="accent6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algn="ctr">
              <a:spcBef>
                <a:spcPct val="20000"/>
              </a:spcBef>
            </a:pPr>
            <a:r>
              <a:rPr lang="es-CL" sz="6000" b="1" dirty="0">
                <a:solidFill>
                  <a:schemeClr val="accent6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320336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3</a:t>
            </a:fld>
            <a:endParaRPr lang="es-CL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0C161C7-3C26-1FEB-3817-313B323308E8}"/>
              </a:ext>
            </a:extLst>
          </p:cNvPr>
          <p:cNvSpPr txBox="1"/>
          <p:nvPr/>
        </p:nvSpPr>
        <p:spPr>
          <a:xfrm>
            <a:off x="2915816" y="2517479"/>
            <a:ext cx="561662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latin typeface="Abadi" panose="020F0502020204030204" pitchFamily="34" charset="0"/>
              </a:rPr>
              <a:t>La capacidad térmica de un conductor se determina mediante el balance de energía en estado estacionario, donde el calor generado internamente por el efecto Joule (</a:t>
            </a:r>
            <a:r>
              <a:rPr lang="es-ES" sz="1400" dirty="0" err="1">
                <a:latin typeface="Abadi" panose="020F0502020204030204" pitchFamily="34" charset="0"/>
              </a:rPr>
              <a:t>Qgen</a:t>
            </a:r>
            <a:r>
              <a:rPr lang="es-ES" sz="1400" dirty="0">
                <a:latin typeface="Abadi" panose="020F0502020204030204" pitchFamily="34" charset="0"/>
              </a:rPr>
              <a:t>) debe igualar al calor disipado al ambiente por convección (</a:t>
            </a:r>
            <a:r>
              <a:rPr lang="es-ES" sz="1400" dirty="0" err="1">
                <a:latin typeface="Abadi" panose="020F0502020204030204" pitchFamily="34" charset="0"/>
              </a:rPr>
              <a:t>Qconv</a:t>
            </a:r>
            <a:r>
              <a:rPr lang="es-ES" sz="1400" dirty="0">
                <a:latin typeface="Abadi" panose="020F0502020204030204" pitchFamily="34" charset="0"/>
              </a:rPr>
              <a:t>) y radiación (</a:t>
            </a:r>
            <a:r>
              <a:rPr lang="es-ES" sz="1400" dirty="0" err="1">
                <a:latin typeface="Abadi" panose="020F0502020204030204" pitchFamily="34" charset="0"/>
              </a:rPr>
              <a:t>Qrad</a:t>
            </a:r>
            <a:r>
              <a:rPr lang="es-ES" sz="1400" dirty="0">
                <a:latin typeface="Abadi" panose="020F0502020204030204" pitchFamily="34" charset="0"/>
              </a:rPr>
              <a:t>):</a:t>
            </a:r>
          </a:p>
          <a:p>
            <a:endParaRPr lang="es-CL" dirty="0"/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0E679DE0-0423-003F-719E-056899B8D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798678"/>
            <a:ext cx="5976664" cy="171880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1F88C34-B16C-1E2E-0372-31580CF1C7DE}"/>
              </a:ext>
            </a:extLst>
          </p:cNvPr>
          <p:cNvSpPr txBox="1"/>
          <p:nvPr/>
        </p:nvSpPr>
        <p:spPr>
          <a:xfrm>
            <a:off x="2915816" y="4340522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Para flujo de aire natural y forzado, se utiliza la correlación de Churchill-Bernstein:</a:t>
            </a:r>
            <a:endParaRPr lang="es-CL" sz="1400" dirty="0">
              <a:latin typeface="Abadi" panose="020F0502020204030204" pitchFamily="34" charset="0"/>
            </a:endParaRPr>
          </a:p>
        </p:txBody>
      </p:sp>
      <p:pic>
        <p:nvPicPr>
          <p:cNvPr id="14" name="Imagen 13" descr="Texto&#10;&#10;El contenido generado por IA puede ser incorrecto.">
            <a:extLst>
              <a:ext uri="{FF2B5EF4-FFF2-40B4-BE49-F238E27FC236}">
                <a16:creationId xmlns:a16="http://schemas.microsoft.com/office/drawing/2014/main" id="{FBA09207-5ACE-695C-C690-3697DF26E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817" y="5053017"/>
            <a:ext cx="3024336" cy="55486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6EBF09EA-D23C-9430-9BD8-3460451E2616}"/>
              </a:ext>
            </a:extLst>
          </p:cNvPr>
          <p:cNvSpPr txBox="1"/>
          <p:nvPr/>
        </p:nvSpPr>
        <p:spPr>
          <a:xfrm>
            <a:off x="2843808" y="5660544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Donde h es el coeficiente de transferencia de calor [W/m²·K], </a:t>
            </a:r>
            <a:r>
              <a:rPr lang="es-ES" sz="1400" dirty="0" err="1">
                <a:latin typeface="Abadi" panose="020F0502020204030204" pitchFamily="34" charset="0"/>
              </a:rPr>
              <a:t>Ts</a:t>
            </a:r>
            <a:r>
              <a:rPr lang="es-ES" sz="1400" dirty="0">
                <a:latin typeface="Abadi" panose="020F0502020204030204" pitchFamily="34" charset="0"/>
              </a:rPr>
              <a:t> la temperatura del conductor y Ta la temperatura ambiente</a:t>
            </a:r>
            <a:endParaRPr lang="es-CL" sz="1400" dirty="0">
              <a:latin typeface="Abadi" panose="020F0502020204030204" pitchFamily="34" charset="0"/>
            </a:endParaRPr>
          </a:p>
        </p:txBody>
      </p:sp>
      <p:pic>
        <p:nvPicPr>
          <p:cNvPr id="17" name="Imagen 16" descr="Un conjunto de letras blancas en un fondo blanco&#10;&#10;El contenido generado por IA puede ser incorrecto.">
            <a:extLst>
              <a:ext uri="{FF2B5EF4-FFF2-40B4-BE49-F238E27FC236}">
                <a16:creationId xmlns:a16="http://schemas.microsoft.com/office/drawing/2014/main" id="{6F54534F-CB73-46C5-7BDC-EC2AB4FEC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832" y="3512025"/>
            <a:ext cx="4203583" cy="639222"/>
          </a:xfrm>
          <a:prstGeom prst="rect">
            <a:avLst/>
          </a:prstGeom>
        </p:spPr>
      </p:pic>
      <p:pic>
        <p:nvPicPr>
          <p:cNvPr id="19" name="Imagen 18" descr="Texto&#10;&#10;El contenido generado por IA puede ser incorrecto.">
            <a:extLst>
              <a:ext uri="{FF2B5EF4-FFF2-40B4-BE49-F238E27FC236}">
                <a16:creationId xmlns:a16="http://schemas.microsoft.com/office/drawing/2014/main" id="{E6FC9CAA-39EF-3150-489C-0454D359A8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184" y="5000169"/>
            <a:ext cx="2514951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B1F3A-1799-C72F-ED79-A8E7DB78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C8D7F14C-C977-84F9-485E-5C83F11A028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0DFA8002-3E0C-BBBA-7765-288B5ED4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4</a:t>
            </a:fld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4650C22-74FB-E0D7-1F51-7485C26B4310}"/>
              </a:ext>
            </a:extLst>
          </p:cNvPr>
          <p:cNvSpPr txBox="1"/>
          <p:nvPr/>
        </p:nvSpPr>
        <p:spPr>
          <a:xfrm>
            <a:off x="2915816" y="764704"/>
            <a:ext cx="5616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Pérdidas de Calor por radiación:</a:t>
            </a:r>
            <a:endParaRPr lang="es-CL" sz="1400" dirty="0">
              <a:latin typeface="Abadi" panose="020F050202020403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5CC4DBD-397E-68FE-550B-AD615B814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152713"/>
            <a:ext cx="3024336" cy="39643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F9C29E8-9B1D-77BD-F619-B37C25262114}"/>
              </a:ext>
            </a:extLst>
          </p:cNvPr>
          <p:cNvSpPr txBox="1"/>
          <p:nvPr/>
        </p:nvSpPr>
        <p:spPr>
          <a:xfrm>
            <a:off x="2915816" y="1681063"/>
            <a:ext cx="56166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Donde ϵ es la emisividad, σ la constante de Stefan-Boltzmann y D el diámetro del conductor.</a:t>
            </a:r>
          </a:p>
          <a:p>
            <a:endParaRPr lang="es-CL" sz="1400" dirty="0">
              <a:latin typeface="Abad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ACB310B-8862-8048-9C2A-0D3ED5B04DAB}"/>
              </a:ext>
            </a:extLst>
          </p:cNvPr>
          <p:cNvSpPr txBox="1"/>
          <p:nvPr/>
        </p:nvSpPr>
        <p:spPr>
          <a:xfrm>
            <a:off x="2882280" y="2499650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Abadi" panose="020F0502020204030204" pitchFamily="34" charset="0"/>
              </a:rPr>
              <a:t>Modelo Térmico Dinámico</a:t>
            </a:r>
            <a:endParaRPr lang="es-CL" sz="2000" b="1" dirty="0">
              <a:latin typeface="Abadi" panose="020F050202020403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637417F-7561-952E-678E-96E0CA68F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520" y="3140394"/>
            <a:ext cx="5200100" cy="706501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BDF46D90-0DD7-00D1-2D8A-F18AE2268CD9}"/>
              </a:ext>
            </a:extLst>
          </p:cNvPr>
          <p:cNvSpPr txBox="1"/>
          <p:nvPr/>
        </p:nvSpPr>
        <p:spPr>
          <a:xfrm>
            <a:off x="2907166" y="4176664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Donde m es la masa por unidad de longitud [kg/m] y </a:t>
            </a:r>
            <a:r>
              <a:rPr lang="es-ES" sz="1400" dirty="0" err="1">
                <a:latin typeface="Abadi" panose="020F0502020204030204" pitchFamily="34" charset="0"/>
              </a:rPr>
              <a:t>Cp</a:t>
            </a:r>
            <a:r>
              <a:rPr lang="es-ES" sz="1400" dirty="0">
                <a:latin typeface="Abadi" panose="020F0502020204030204" pitchFamily="34" charset="0"/>
              </a:rPr>
              <a:t> es el calor específico [J/</a:t>
            </a:r>
            <a:r>
              <a:rPr lang="es-ES" sz="1400" dirty="0" err="1">
                <a:latin typeface="Abadi" panose="020F0502020204030204" pitchFamily="34" charset="0"/>
              </a:rPr>
              <a:t>kg·K</a:t>
            </a:r>
            <a:r>
              <a:rPr lang="es-ES" sz="1400" dirty="0">
                <a:latin typeface="Abadi" panose="020F0502020204030204" pitchFamily="34" charset="0"/>
              </a:rPr>
              <a:t>].</a:t>
            </a:r>
            <a:endParaRPr lang="es-CL" sz="1400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8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5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752B058-C922-8BC1-1022-9B8E15937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CONDUCTORES COMERCIALES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23045DC-5551-87EC-5072-8E89DDF47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2996953"/>
            <a:ext cx="5500550" cy="252028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4AC23D7-5735-1E4B-6422-06196379D7BD}"/>
              </a:ext>
            </a:extLst>
          </p:cNvPr>
          <p:cNvSpPr txBox="1"/>
          <p:nvPr/>
        </p:nvSpPr>
        <p:spPr>
          <a:xfrm>
            <a:off x="301752" y="1710845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Cálculo de Capacidades para Distintas Secciones y Condiciones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1B1A901-BA15-86E6-9918-12B4AA2D4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3411952"/>
            <a:ext cx="2411219" cy="9042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62330-0CE1-4534-C932-4782E5E5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B887808B-77F5-D72B-5E65-78ABAADF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6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E48F25D-A344-70B0-1650-B3E39DE7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Resultados Capacidad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423D1C-5793-F0F7-11AD-F1B89713D672}"/>
              </a:ext>
            </a:extLst>
          </p:cNvPr>
          <p:cNvSpPr txBox="1"/>
          <p:nvPr/>
        </p:nvSpPr>
        <p:spPr>
          <a:xfrm>
            <a:off x="301752" y="1710845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Cálculo de Capacidades para Distintas Secciones y Condiciones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CDC10C2-AB40-971D-D32A-62AF3A8D0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72" y="3035861"/>
            <a:ext cx="8676456" cy="201622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6C23CE5-51EE-213C-39E3-11C5A33B9EF1}"/>
              </a:ext>
            </a:extLst>
          </p:cNvPr>
          <p:cNvSpPr txBox="1"/>
          <p:nvPr/>
        </p:nvSpPr>
        <p:spPr>
          <a:xfrm>
            <a:off x="232150" y="5546104"/>
            <a:ext cx="8566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La reducción de capacidad entre invierno y verano varía entre 14,7 % y 15,1 %</a:t>
            </a:r>
            <a:endParaRPr lang="es-CL" sz="1400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958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131840" y="1844824"/>
            <a:ext cx="5616624" cy="352839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endParaRPr lang="es-CL" sz="6000" b="1" dirty="0">
              <a:solidFill>
                <a:schemeClr val="accent6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algn="ctr">
              <a:spcBef>
                <a:spcPct val="20000"/>
              </a:spcBef>
            </a:pPr>
            <a:r>
              <a:rPr lang="es-CL" sz="6000" b="1" dirty="0">
                <a:solidFill>
                  <a:schemeClr val="accent6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Análisis de Sensibilidad</a:t>
            </a:r>
          </a:p>
        </p:txBody>
      </p:sp>
      <p:pic>
        <p:nvPicPr>
          <p:cNvPr id="7" name="6 Imagen" descr="icolor_azl_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7</a:t>
            </a:fld>
            <a:endParaRPr lang="es-C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62F49-E3B0-6DCC-DC4E-6D39A082A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F7575E5C-3EF0-28B3-33E4-8C8244AC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8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A2BE9CC-EBB2-72B6-EF8A-CF53A75E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Sensibilidad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62D2654-7DA0-088C-51F4-4E4D0260CC2E}"/>
              </a:ext>
            </a:extLst>
          </p:cNvPr>
          <p:cNvSpPr txBox="1"/>
          <p:nvPr/>
        </p:nvSpPr>
        <p:spPr>
          <a:xfrm>
            <a:off x="301752" y="1710845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Resultados de Análisis de Sensibilidad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32B3440-528D-89EA-B760-A2B5167DDCA7}"/>
              </a:ext>
            </a:extLst>
          </p:cNvPr>
          <p:cNvSpPr txBox="1"/>
          <p:nvPr/>
        </p:nvSpPr>
        <p:spPr>
          <a:xfrm>
            <a:off x="179512" y="5833147"/>
            <a:ext cx="8784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Abadi" panose="020F0502020204030204" pitchFamily="34" charset="0"/>
              </a:rPr>
              <a:t>”Los estándares internacionales para el cálculo de ampacidad (como la norma IEEE 738) recomiendan usar valores iguales cuando no se dispone de mediciones de campo precisas.”</a:t>
            </a:r>
            <a:endParaRPr lang="es-CL" sz="1200" dirty="0">
              <a:latin typeface="Abad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896352-7E4A-EF69-9E57-3F8672E51C00}"/>
              </a:ext>
            </a:extLst>
          </p:cNvPr>
          <p:cNvSpPr txBox="1"/>
          <p:nvPr/>
        </p:nvSpPr>
        <p:spPr>
          <a:xfrm>
            <a:off x="301752" y="2218701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Se realizó un análisis de sensibilidad sobre el conductor </a:t>
            </a:r>
            <a:r>
              <a:rPr lang="es-ES" sz="1400" dirty="0" err="1">
                <a:latin typeface="Abadi" panose="020F0502020204030204" pitchFamily="34" charset="0"/>
              </a:rPr>
              <a:t>Hawk</a:t>
            </a:r>
            <a:r>
              <a:rPr lang="es-ES" sz="1400" dirty="0">
                <a:latin typeface="Abadi" panose="020F0502020204030204" pitchFamily="34" charset="0"/>
              </a:rPr>
              <a:t> (240 mm²) en condiciones de verano (Ta = 30 ◦C, </a:t>
            </a:r>
            <a:r>
              <a:rPr lang="es-ES" sz="1400" dirty="0" err="1">
                <a:latin typeface="Abadi" panose="020F0502020204030204" pitchFamily="34" charset="0"/>
              </a:rPr>
              <a:t>Ts</a:t>
            </a:r>
            <a:r>
              <a:rPr lang="es-ES" sz="1400" dirty="0">
                <a:latin typeface="Abadi" panose="020F0502020204030204" pitchFamily="34" charset="0"/>
              </a:rPr>
              <a:t> = 75 ◦C) y vientos de 0.6 m/s.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F702C5-5C17-66AD-46E4-A8A596AF9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168" y="2804747"/>
            <a:ext cx="4176464" cy="285905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EB74662-0CDD-57A6-4309-B4F1159F3834}"/>
              </a:ext>
            </a:extLst>
          </p:cNvPr>
          <p:cNvSpPr txBox="1"/>
          <p:nvPr/>
        </p:nvSpPr>
        <p:spPr>
          <a:xfrm>
            <a:off x="5508104" y="4725144"/>
            <a:ext cx="588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15%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2061AE-ECC3-F869-A6EC-D69076158EEE}"/>
              </a:ext>
            </a:extLst>
          </p:cNvPr>
          <p:cNvSpPr txBox="1"/>
          <p:nvPr/>
        </p:nvSpPr>
        <p:spPr>
          <a:xfrm>
            <a:off x="5508104" y="5137447"/>
            <a:ext cx="588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13%</a:t>
            </a:r>
          </a:p>
        </p:txBody>
      </p:sp>
    </p:spTree>
    <p:extLst>
      <p:ext uri="{BB962C8B-B14F-4D97-AF65-F5344CB8AC3E}">
        <p14:creationId xmlns:p14="http://schemas.microsoft.com/office/powerpoint/2010/main" val="132865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4106F-53DE-84C3-5499-63449274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9A8AA98E-BE48-233D-01C5-6524FE9F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9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98403A6-4AF2-AB18-0301-0706765F9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Sensibilidad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37A794F-B6A3-8BF0-59C9-19E374FFF8D0}"/>
              </a:ext>
            </a:extLst>
          </p:cNvPr>
          <p:cNvSpPr txBox="1"/>
          <p:nvPr/>
        </p:nvSpPr>
        <p:spPr>
          <a:xfrm>
            <a:off x="301752" y="1710845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Resultados de Análisis de Sensibilidad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748B8C-4404-5B5D-C618-556034F79D0C}"/>
              </a:ext>
            </a:extLst>
          </p:cNvPr>
          <p:cNvSpPr txBox="1"/>
          <p:nvPr/>
        </p:nvSpPr>
        <p:spPr>
          <a:xfrm>
            <a:off x="179512" y="5833147"/>
            <a:ext cx="8784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Abadi" panose="020F0502020204030204" pitchFamily="34" charset="0"/>
              </a:rPr>
              <a:t>”Los estándares internacionales para el cálculo de ampacidad (como la norma IEEE 738) recomiendan usar valores iguales cuando no se dispone de mediciones de campo precisas.”</a:t>
            </a:r>
            <a:endParaRPr lang="es-CL" sz="1200" dirty="0">
              <a:latin typeface="Abad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3F50D04-0600-2FB9-E061-56DDE67A0A1E}"/>
              </a:ext>
            </a:extLst>
          </p:cNvPr>
          <p:cNvSpPr txBox="1"/>
          <p:nvPr/>
        </p:nvSpPr>
        <p:spPr>
          <a:xfrm>
            <a:off x="301752" y="2218701"/>
            <a:ext cx="6336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Se analizó el efecto de la velocidad del viento manteniendo α = 0,5 y ϵ = 0,5.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CBF5D0-1A53-0FED-3687-CA9DC78FF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16" y="3154221"/>
            <a:ext cx="4727285" cy="1640721"/>
          </a:xfrm>
          <a:prstGeom prst="rect">
            <a:avLst/>
          </a:prstGeom>
        </p:spPr>
      </p:pic>
      <p:pic>
        <p:nvPicPr>
          <p:cNvPr id="15" name="Imagen 14" descr="Texto&#10;&#10;El contenido generado por IA puede ser incorrecto.">
            <a:extLst>
              <a:ext uri="{FF2B5EF4-FFF2-40B4-BE49-F238E27FC236}">
                <a16:creationId xmlns:a16="http://schemas.microsoft.com/office/drawing/2014/main" id="{98DD04EB-9F1B-B49B-F62B-1F4DE2B3F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558" y="3973863"/>
            <a:ext cx="3723206" cy="904207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D59AF534-DA5D-70C9-CBC2-7729D7B46D20}"/>
              </a:ext>
            </a:extLst>
          </p:cNvPr>
          <p:cNvSpPr txBox="1"/>
          <p:nvPr/>
        </p:nvSpPr>
        <p:spPr>
          <a:xfrm>
            <a:off x="5949144" y="5102355"/>
            <a:ext cx="2474235" cy="528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Donde </a:t>
            </a:r>
            <a:r>
              <a:rPr lang="es-ES" sz="1400" dirty="0" err="1">
                <a:latin typeface="Abadi" panose="020F0502020204030204" pitchFamily="34" charset="0"/>
              </a:rPr>
              <a:t>Kangle</a:t>
            </a:r>
            <a:r>
              <a:rPr lang="es-ES" sz="1400" dirty="0">
                <a:latin typeface="Abadi" panose="020F0502020204030204" pitchFamily="34" charset="0"/>
              </a:rPr>
              <a:t>(ϕ) es el factor de corrección por dirección.</a:t>
            </a:r>
          </a:p>
        </p:txBody>
      </p:sp>
    </p:spTree>
    <p:extLst>
      <p:ext uri="{BB962C8B-B14F-4D97-AF65-F5344CB8AC3E}">
        <p14:creationId xmlns:p14="http://schemas.microsoft.com/office/powerpoint/2010/main" val="3289549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09132-432E-DD6D-9650-221D5EFD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745C8959-6268-8222-D833-081D8746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10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DF7ED5DF-D55F-0B94-43FB-75154EAC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Sensibilidad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AF49A97-FAE7-0205-36A0-96B9726E1EAF}"/>
              </a:ext>
            </a:extLst>
          </p:cNvPr>
          <p:cNvSpPr txBox="1"/>
          <p:nvPr/>
        </p:nvSpPr>
        <p:spPr>
          <a:xfrm>
            <a:off x="301752" y="1455188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Resultados de Análisis de Sensibilidad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74C8857-C43C-21C5-51A8-14B2D104EA9F}"/>
              </a:ext>
            </a:extLst>
          </p:cNvPr>
          <p:cNvSpPr txBox="1"/>
          <p:nvPr/>
        </p:nvSpPr>
        <p:spPr>
          <a:xfrm>
            <a:off x="179512" y="5833147"/>
            <a:ext cx="8784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Abadi" panose="020F0502020204030204" pitchFamily="34" charset="0"/>
              </a:rPr>
              <a:t>”Los estándares internacionales para el cálculo de ampacidad (como la norma IEEE 738) recomiendan usar valores iguales cuando no se dispone de mediciones de campo precisas.”</a:t>
            </a:r>
            <a:endParaRPr lang="es-CL" sz="1200" dirty="0">
              <a:latin typeface="Abad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D66AD7A-C7D0-94EB-B869-87EE374AB92D}"/>
              </a:ext>
            </a:extLst>
          </p:cNvPr>
          <p:cNvSpPr txBox="1"/>
          <p:nvPr/>
        </p:nvSpPr>
        <p:spPr>
          <a:xfrm>
            <a:off x="301752" y="1956990"/>
            <a:ext cx="8662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Según el modelo de </a:t>
            </a:r>
            <a:r>
              <a:rPr lang="es-ES" sz="1400" dirty="0" err="1">
                <a:latin typeface="Abadi" panose="020F0502020204030204" pitchFamily="34" charset="0"/>
              </a:rPr>
              <a:t>McAdams</a:t>
            </a:r>
            <a:r>
              <a:rPr lang="es-ES" sz="1400" dirty="0">
                <a:latin typeface="Abadi" panose="020F0502020204030204" pitchFamily="34" charset="0"/>
              </a:rPr>
              <a:t>, para un flujo de aire perpendicular al conductor, la pérdida por convección se relaciona con la velocidad del viento (V ) mediante el número de Reynolds (Re):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3B76396-A497-2379-5A2F-471E5F7E60DE}"/>
              </a:ext>
            </a:extLst>
          </p:cNvPr>
          <p:cNvSpPr txBox="1"/>
          <p:nvPr/>
        </p:nvSpPr>
        <p:spPr>
          <a:xfrm>
            <a:off x="319091" y="2816330"/>
            <a:ext cx="3614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Donde el exponente lo aproxima n ≈ 0,52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55CF54-A305-F111-AC15-5AB1BE46A28A}"/>
              </a:ext>
            </a:extLst>
          </p:cNvPr>
          <p:cNvSpPr txBox="1"/>
          <p:nvPr/>
        </p:nvSpPr>
        <p:spPr>
          <a:xfrm>
            <a:off x="322805" y="3138924"/>
            <a:ext cx="3614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Dado que I ∝ √</a:t>
            </a:r>
            <a:r>
              <a:rPr lang="es-ES" sz="1400" dirty="0" err="1">
                <a:latin typeface="Abadi" panose="020F0502020204030204" pitchFamily="34" charset="0"/>
              </a:rPr>
              <a:t>qc</a:t>
            </a:r>
            <a:r>
              <a:rPr lang="es-ES" sz="1400" dirty="0">
                <a:latin typeface="Abadi" panose="020F0502020204030204" pitchFamily="34" charset="0"/>
              </a:rPr>
              <a:t>,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03C8392-BC42-B75B-FA2E-6DC9E4FA2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109" y="2874924"/>
            <a:ext cx="1333686" cy="48584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6A7A26B-FC6D-38A0-E0EB-2DC14CA7C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709" y="3660066"/>
            <a:ext cx="2804951" cy="215295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60BFF75-704C-35A0-4F00-856D174DE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91" y="3666052"/>
            <a:ext cx="5200719" cy="1805038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58C191A3-F11E-93E4-A156-06DBD9ECED09}"/>
              </a:ext>
            </a:extLst>
          </p:cNvPr>
          <p:cNvSpPr txBox="1"/>
          <p:nvPr/>
        </p:nvSpPr>
        <p:spPr>
          <a:xfrm>
            <a:off x="4800506" y="4648189"/>
            <a:ext cx="719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12,5%</a:t>
            </a:r>
          </a:p>
        </p:txBody>
      </p:sp>
      <p:pic>
        <p:nvPicPr>
          <p:cNvPr id="25" name="Imagen 24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8A2875C8-5897-FB36-66F8-ED2593CD2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222" y="2302661"/>
            <a:ext cx="1235923" cy="58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583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322DC-731B-B252-8837-E8CFB5E65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267B57C2-EF79-D1C1-4698-96749F912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11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7017391-8A39-E1F2-65D3-48252173C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Sensibilidad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496B91D-2A5C-8B25-F58E-69413319FA61}"/>
              </a:ext>
            </a:extLst>
          </p:cNvPr>
          <p:cNvSpPr txBox="1"/>
          <p:nvPr/>
        </p:nvSpPr>
        <p:spPr>
          <a:xfrm>
            <a:off x="301752" y="1455188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Resultados de Análisis de Sensibilidad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0A28B45C-4F5C-2286-FDAF-C758DC590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969930"/>
            <a:ext cx="8953448" cy="433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06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434C3-9BD3-60BA-6F78-6DA3564E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>
            <a:extLst>
              <a:ext uri="{FF2B5EF4-FFF2-40B4-BE49-F238E27FC236}">
                <a16:creationId xmlns:a16="http://schemas.microsoft.com/office/drawing/2014/main" id="{5F4E6411-B970-42AF-115A-CE3E4BDE2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792" y="692696"/>
            <a:ext cx="6480720" cy="396044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endParaRPr lang="es-CL" sz="6000" b="1" dirty="0">
              <a:solidFill>
                <a:schemeClr val="accent6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algn="ctr">
              <a:spcBef>
                <a:spcPct val="20000"/>
              </a:spcBef>
            </a:pPr>
            <a:r>
              <a:rPr lang="es-CL" sz="6000" b="1" dirty="0">
                <a:solidFill>
                  <a:schemeClr val="accent6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Análisis Comportamiento Transitorio</a:t>
            </a:r>
          </a:p>
        </p:txBody>
      </p:sp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89CEDCB8-2F69-0757-F601-0AB77F30B1D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26190B76-BEB6-3E74-07F8-6464527B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12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1007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97D6-E0AE-62F6-2BF2-FD41933E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3604CABE-7B30-7BE7-EDDC-7B8FD487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13</a:t>
            </a:fld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4E82897-5FC3-027B-52B0-5BF1F84EC75C}"/>
              </a:ext>
            </a:extLst>
          </p:cNvPr>
          <p:cNvSpPr txBox="1"/>
          <p:nvPr/>
        </p:nvSpPr>
        <p:spPr>
          <a:xfrm>
            <a:off x="123192" y="215648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SYCAMORE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81AF773-25B8-20B5-F800-71E9D40944B2}"/>
              </a:ext>
            </a:extLst>
          </p:cNvPr>
          <p:cNvSpPr txBox="1"/>
          <p:nvPr/>
        </p:nvSpPr>
        <p:spPr>
          <a:xfrm>
            <a:off x="123192" y="571598"/>
            <a:ext cx="81586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Se estudió la respuesta temporal de dos conductores (</a:t>
            </a:r>
            <a:r>
              <a:rPr lang="es-ES" sz="1400" dirty="0" err="1">
                <a:latin typeface="Abadi" panose="020F0502020204030204" pitchFamily="34" charset="0"/>
              </a:rPr>
              <a:t>Sycamore</a:t>
            </a:r>
            <a:r>
              <a:rPr lang="es-ES" sz="1400" dirty="0">
                <a:latin typeface="Abadi" panose="020F0502020204030204" pitchFamily="34" charset="0"/>
              </a:rPr>
              <a:t> y Cardinal) partiendo de condiciones de régimen previo (70 % y 90 % de la carga nominal) y aplicando una sobrecarga del 120 %. El límite de temperatura se fijó en 100 ◦C.</a:t>
            </a: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FC1552CE-E994-A988-0811-0C7CA63C3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89" y="1477345"/>
            <a:ext cx="2830088" cy="1523309"/>
          </a:xfrm>
          <a:prstGeom prst="rect">
            <a:avLst/>
          </a:prstGeom>
        </p:spPr>
      </p:pic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96611CBF-9D7F-36C7-4CD6-4AD442E71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39" y="3167737"/>
            <a:ext cx="9144000" cy="2894083"/>
          </a:xfrm>
          <a:prstGeom prst="rect">
            <a:avLst/>
          </a:prstGeom>
        </p:spPr>
      </p:pic>
      <p:pic>
        <p:nvPicPr>
          <p:cNvPr id="16" name="Imagen 15" descr="Texto, Carta&#10;&#10;El contenido generado por IA puede ser incorrecto.">
            <a:extLst>
              <a:ext uri="{FF2B5EF4-FFF2-40B4-BE49-F238E27FC236}">
                <a16:creationId xmlns:a16="http://schemas.microsoft.com/office/drawing/2014/main" id="{4116DCF4-37CC-6926-994E-8588DA15E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70850"/>
            <a:ext cx="4062458" cy="181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203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4C16-37E1-B4F9-9295-5CF65DC5E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ABCF60A6-7775-8174-661D-370BBE324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14</a:t>
            </a:fld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13D4A06-512F-940D-1549-9F9906782A76}"/>
              </a:ext>
            </a:extLst>
          </p:cNvPr>
          <p:cNvSpPr txBox="1"/>
          <p:nvPr/>
        </p:nvSpPr>
        <p:spPr>
          <a:xfrm>
            <a:off x="123192" y="215648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CARDINAL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63504D7-FDF1-5B8E-8AD4-ED684C5603EF}"/>
              </a:ext>
            </a:extLst>
          </p:cNvPr>
          <p:cNvSpPr txBox="1"/>
          <p:nvPr/>
        </p:nvSpPr>
        <p:spPr>
          <a:xfrm>
            <a:off x="123192" y="571598"/>
            <a:ext cx="81586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Se estudió la respuesta temporal de dos conductores (</a:t>
            </a:r>
            <a:r>
              <a:rPr lang="es-ES" sz="1400" dirty="0" err="1">
                <a:latin typeface="Abadi" panose="020F0502020204030204" pitchFamily="34" charset="0"/>
              </a:rPr>
              <a:t>Sycamore</a:t>
            </a:r>
            <a:r>
              <a:rPr lang="es-ES" sz="1400" dirty="0">
                <a:latin typeface="Abadi" panose="020F0502020204030204" pitchFamily="34" charset="0"/>
              </a:rPr>
              <a:t> y Cardinal) partiendo de condiciones de régimen previo (70 % y 90 % de la carga nominal) y aplicando una sobrecarga del 120 %. El límite de temperatura se fijó en 100 ◦C.</a:t>
            </a: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54338556-A1E5-E6BC-6467-9073A3661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89" y="1477345"/>
            <a:ext cx="2830088" cy="1523309"/>
          </a:xfrm>
          <a:prstGeom prst="rect">
            <a:avLst/>
          </a:prstGeom>
        </p:spPr>
      </p:pic>
      <p:pic>
        <p:nvPicPr>
          <p:cNvPr id="5" name="Imagen 4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B8473988-77FD-791F-8103-2B8FFF9E1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84984"/>
            <a:ext cx="9144000" cy="2814039"/>
          </a:xfrm>
          <a:prstGeom prst="rect">
            <a:avLst/>
          </a:prstGeom>
        </p:spPr>
      </p:pic>
      <p:pic>
        <p:nvPicPr>
          <p:cNvPr id="12" name="Imagen 11" descr="Texto, Carta&#10;&#10;El contenido generado por IA puede ser incorrecto.">
            <a:extLst>
              <a:ext uri="{FF2B5EF4-FFF2-40B4-BE49-F238E27FC236}">
                <a16:creationId xmlns:a16="http://schemas.microsoft.com/office/drawing/2014/main" id="{52ADEDB6-21C7-E241-1EC2-6CC76AD83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1322230"/>
            <a:ext cx="4001862" cy="167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034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10DF73-6D9C-478A-9C49-752D2C3C0043}" type="slidenum">
              <a:rPr lang="es-CL"/>
              <a:pPr/>
              <a:t>15</a:t>
            </a:fld>
            <a:endParaRPr lang="es-CL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403648" y="764704"/>
            <a:ext cx="6400800" cy="71913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</a:pPr>
            <a:r>
              <a:rPr lang="es-CL" sz="3600" dirty="0">
                <a:latin typeface="Arial" pitchFamily="34" charset="0"/>
                <a:cs typeface="Arial" pitchFamily="34" charset="0"/>
              </a:rPr>
              <a:t>Conclusiones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329910-4CD6-FADF-C200-05A7989A6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2640774"/>
            <a:ext cx="8568952" cy="359653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ES" dirty="0"/>
              <a:t>1. Tolerancia a sobrecarga: El conductor Cardinal (mayor sección) puede soportar</a:t>
            </a:r>
          </a:p>
          <a:p>
            <a:pPr algn="just"/>
            <a:r>
              <a:rPr lang="es-ES" dirty="0"/>
              <a:t>sobrecargas relativas mayores que el </a:t>
            </a:r>
            <a:r>
              <a:rPr lang="es-ES" dirty="0" err="1"/>
              <a:t>Sycamore</a:t>
            </a:r>
            <a:r>
              <a:rPr lang="es-ES" dirty="0"/>
              <a:t> debido a su mayor masa térmica.</a:t>
            </a:r>
          </a:p>
          <a:p>
            <a:pPr algn="just"/>
            <a:r>
              <a:rPr lang="es-ES" dirty="0"/>
              <a:t>2. Efecto de la carga previa: Una carga previa más alta reduce la capacidad de</a:t>
            </a:r>
          </a:p>
          <a:p>
            <a:pPr algn="just"/>
            <a:r>
              <a:rPr lang="es-ES" dirty="0"/>
              <a:t>sobrecarga temporal, especialmente para intervalos cortos (15 minutos).</a:t>
            </a:r>
          </a:p>
          <a:p>
            <a:pPr algn="just"/>
            <a:r>
              <a:rPr lang="es-ES" dirty="0"/>
              <a:t>3. Límites temporales: Para ambos conductores, la sobrecarga del 120 % es segura</a:t>
            </a:r>
          </a:p>
          <a:p>
            <a:pPr algn="just"/>
            <a:r>
              <a:rPr lang="es-ES" dirty="0"/>
              <a:t>indefinidamente, estabilizándose por debajo de 95 ◦C.</a:t>
            </a:r>
          </a:p>
          <a:p>
            <a:pPr algn="just"/>
            <a:r>
              <a:rPr lang="es-ES" dirty="0"/>
              <a:t>4. Márgenes de seguridad: Existe un margen significativo entre la temperatura nominal (75 ◦C) y la límite (100 ◦C) que permite sobrecargas temporales considerables.</a:t>
            </a:r>
          </a:p>
          <a:p>
            <a:pPr algn="just"/>
            <a:endParaRPr lang="es-CL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30C86-3D6D-E73D-4AC9-B21221D5F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5 Marcador de número de diapositiva">
            <a:extLst>
              <a:ext uri="{FF2B5EF4-FFF2-40B4-BE49-F238E27FC236}">
                <a16:creationId xmlns:a16="http://schemas.microsoft.com/office/drawing/2014/main" id="{4377ED13-8B4A-E98E-F439-355D6C26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10DF73-6D9C-478A-9C49-752D2C3C0043}" type="slidenum">
              <a:rPr lang="es-CL"/>
              <a:pPr/>
              <a:t>16</a:t>
            </a:fld>
            <a:endParaRPr lang="es-CL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38E6489-421D-ACF2-3B11-7CBDD47B7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764704"/>
            <a:ext cx="6400800" cy="71913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</a:pPr>
            <a:r>
              <a:rPr lang="es-CL" sz="3600" dirty="0">
                <a:latin typeface="Arial" pitchFamily="34" charset="0"/>
                <a:cs typeface="Arial" pitchFamily="34" charset="0"/>
              </a:rPr>
              <a:t>Conclusiones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82A909-06E2-C3E2-48C0-56C698E26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2640774"/>
            <a:ext cx="8568952" cy="359653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ES" dirty="0"/>
              <a:t>1. La capacidad de transmisión de conductores de aluminio se ve significativamente afectada por la temperatura ambiente, con reducciones del 15 % entre condiciones</a:t>
            </a:r>
          </a:p>
          <a:p>
            <a:pPr algn="just"/>
            <a:r>
              <a:rPr lang="es-ES" dirty="0"/>
              <a:t>de invierno y verano.</a:t>
            </a:r>
          </a:p>
          <a:p>
            <a:pPr algn="just"/>
            <a:r>
              <a:rPr lang="es-ES" dirty="0"/>
              <a:t>2. Los parámetros </a:t>
            </a:r>
            <a:r>
              <a:rPr lang="es-ES" dirty="0" err="1"/>
              <a:t>radiativos</a:t>
            </a:r>
            <a:r>
              <a:rPr lang="es-ES" dirty="0"/>
              <a:t> (α y ϵ) influyen en la capacidad hasta en un 15 %, siendo óptima la combinación de baja absorción y alta emisión.</a:t>
            </a:r>
          </a:p>
          <a:p>
            <a:pPr algn="just"/>
            <a:r>
              <a:rPr lang="es-ES" dirty="0"/>
              <a:t>3. La velocidad del viento es el factor ambiental más crítico, pudiendo duplicar la capacidad de transporte en condiciones de viento fuerte (10 m/s).</a:t>
            </a:r>
          </a:p>
          <a:p>
            <a:pPr algn="just"/>
            <a:r>
              <a:rPr lang="es-ES" dirty="0"/>
              <a:t>4. Los conductores de mayor sección no solo tienen mayor capacidad nominal, sino también mayor tolerancia a sobrecargas temporales debido a su mayor inercia térmica.</a:t>
            </a:r>
          </a:p>
          <a:p>
            <a:pPr algn="just"/>
            <a:r>
              <a:rPr lang="es-ES" dirty="0"/>
              <a:t>5. El modelo transitorio demuestra que existen márgenes de seguridad considerables</a:t>
            </a:r>
          </a:p>
          <a:p>
            <a:pPr algn="just"/>
            <a:r>
              <a:rPr lang="es-ES" dirty="0"/>
              <a:t>para sobrecargas temporales, especialmente para intervalos cortos (15-30 minutos).</a:t>
            </a: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02062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554</TotalTime>
  <Words>824</Words>
  <Application>Microsoft Office PowerPoint</Application>
  <PresentationFormat>Presentación en pantalla (4:3)</PresentationFormat>
  <Paragraphs>76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Abadi</vt:lpstr>
      <vt:lpstr>ADLaM Display</vt:lpstr>
      <vt:lpstr>Arial</vt:lpstr>
      <vt:lpstr>Georgia</vt:lpstr>
      <vt:lpstr>Wingdings</vt:lpstr>
      <vt:lpstr>Wingdings 2</vt:lpstr>
      <vt:lpstr>Civil</vt:lpstr>
      <vt:lpstr>Presentación de PowerPoint</vt:lpstr>
      <vt:lpstr>Presentación de PowerPoint</vt:lpstr>
      <vt:lpstr>Presentación de PowerPoint</vt:lpstr>
      <vt:lpstr>Presentación de PowerPoint</vt:lpstr>
      <vt:lpstr>CONDUCTORES COMERCIALES</vt:lpstr>
      <vt:lpstr>Resultados Capacidad</vt:lpstr>
      <vt:lpstr>Presentación de PowerPoint</vt:lpstr>
      <vt:lpstr>Sensibilidad</vt:lpstr>
      <vt:lpstr>Sensibilidad</vt:lpstr>
      <vt:lpstr>Sensibilidad</vt:lpstr>
      <vt:lpstr>Sensibilidad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Synapsis IT Ltda Grupo Endesa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chilectra</dc:creator>
  <cp:lastModifiedBy>Matias Malverde Cancino</cp:lastModifiedBy>
  <cp:revision>31</cp:revision>
  <dcterms:created xsi:type="dcterms:W3CDTF">2013-03-16T19:26:18Z</dcterms:created>
  <dcterms:modified xsi:type="dcterms:W3CDTF">2026-01-08T22:55:24Z</dcterms:modified>
</cp:coreProperties>
</file>