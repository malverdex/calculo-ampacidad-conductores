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64" r:id="rId2"/>
    <p:sldId id="297" r:id="rId3"/>
    <p:sldId id="288" r:id="rId4"/>
    <p:sldId id="267" r:id="rId5"/>
    <p:sldId id="269" r:id="rId6"/>
    <p:sldId id="294" r:id="rId7"/>
    <p:sldId id="299" r:id="rId8"/>
    <p:sldId id="298" r:id="rId9"/>
    <p:sldId id="300" r:id="rId10"/>
    <p:sldId id="292" r:id="rId11"/>
    <p:sldId id="302" r:id="rId12"/>
    <p:sldId id="293" r:id="rId13"/>
    <p:sldId id="290" r:id="rId14"/>
    <p:sldId id="291" r:id="rId15"/>
    <p:sldId id="275" r:id="rId16"/>
    <p:sldId id="277" r:id="rId17"/>
    <p:sldId id="272" r:id="rId18"/>
    <p:sldId id="278" r:id="rId19"/>
    <p:sldId id="279" r:id="rId20"/>
    <p:sldId id="287" r:id="rId21"/>
    <p:sldId id="281" r:id="rId22"/>
    <p:sldId id="282" r:id="rId23"/>
    <p:sldId id="283" r:id="rId24"/>
    <p:sldId id="301" r:id="rId25"/>
    <p:sldId id="285" r:id="rId26"/>
  </p:sldIdLst>
  <p:sldSz cx="9144000" cy="6858000" type="screen4x3"/>
  <p:notesSz cx="7010400" cy="9236075"/>
  <p:defaultTextStyle>
    <a:defPPr>
      <a:defRPr lang="es-C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226" y="-12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5388" y="692150"/>
            <a:ext cx="4619625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387136"/>
            <a:ext cx="5608320" cy="4156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CL" noProof="0"/>
              <a:t>Haga clic para modificar el estilo de texto del patrón</a:t>
            </a:r>
          </a:p>
          <a:p>
            <a:pPr lvl="1"/>
            <a:r>
              <a:rPr lang="es-CL" noProof="0"/>
              <a:t>Segundo nivel</a:t>
            </a:r>
          </a:p>
          <a:p>
            <a:pPr lvl="2"/>
            <a:r>
              <a:rPr lang="es-CL" noProof="0"/>
              <a:t>Tercer nivel</a:t>
            </a:r>
          </a:p>
          <a:p>
            <a:pPr lvl="3"/>
            <a:r>
              <a:rPr lang="es-CL" noProof="0"/>
              <a:t>Cuarto nivel</a:t>
            </a:r>
          </a:p>
          <a:p>
            <a:pPr lvl="4"/>
            <a:r>
              <a:rPr lang="es-CL" noProof="0"/>
              <a:t>Quinto nivel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668"/>
            <a:ext cx="3037840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772668"/>
            <a:ext cx="3037840" cy="46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A692ED4-E716-4393-97F6-471B7E95C570}" type="slidenum">
              <a:rPr lang="es-CL"/>
              <a:pPr>
                <a:defRPr/>
              </a:pPr>
              <a:t>‹Nº›</a:t>
            </a:fld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EE1DDA44-2BC2-4DBB-BE35-476E094F7121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pPr>
              <a:defRPr/>
            </a:pPr>
            <a:fld id="{1F757B37-B5D0-4D9D-BB91-55490942D009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57B667E7-97EC-4AA0-9DF6-DFA2835E49D8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E93323-7A6B-4AB6-B10E-38D9D2C60114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Marcador de contenido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23 Marcador de contenido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26" name="25 Marcador de contenido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25" name="24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0F068652-D5BF-4D8A-835C-45B460411A82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23" name="22 Título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pPr>
              <a:defRPr/>
            </a:pPr>
            <a:fld id="{1C4B7AAB-8108-4BB3-9331-AFCF0E82E8DA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5 Rectángulo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‹Nº›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Marcador de contenido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01A32C4D-200D-4AC8-9D56-79264FB561E7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pPr>
              <a:defRPr/>
            </a:pPr>
            <a:endParaRPr lang="es-C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20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11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pPr>
              <a:defRPr/>
            </a:pPr>
            <a:fld id="{D5070D79-27E7-46C7-8A7B-8D7BD009C264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pPr>
              <a:defRPr/>
            </a:pPr>
            <a:endParaRPr lang="es-C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588D82-8D29-4AC9-95E0-51E88F2D9E9E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pPr>
              <a:defRPr/>
            </a:pPr>
            <a:fld id="{ECD47053-1EC3-4114-BF59-5B3E6630E440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CL"/>
          </a:p>
        </p:txBody>
      </p:sp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s-CL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223F84DE-9F6C-4794-AD4F-F2D65EBDF37B}" type="slidenum">
              <a:rPr lang="es-CL" smtClean="0"/>
              <a:pPr>
                <a:defRPr/>
              </a:pPr>
              <a:t>‹Nº›</a:t>
            </a:fld>
            <a:endParaRPr lang="es-CL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</a:t>
            </a:fld>
            <a:endParaRPr lang="es-CL"/>
          </a:p>
        </p:txBody>
      </p:sp>
      <p:sp>
        <p:nvSpPr>
          <p:cNvPr id="11266" name="AutoShape 2" descr="data:image/jpeg;base64,/9j/4AAQSkZJRgABAQAAAQABAAD/2wCEAAkGBwgHBgkIBwgKCgkLDRYPDQwMDRsUFRAWIB0iIiAdHx8kKDQsJCYxJx8fLT0tMTU3Ojo6Iys/RD84QzQ5OjcBCgoKDQwNGg8PGjclHyU3Nzc3Nzc3Nzc3Nzc3Nzc3Nzc3Nzc3Nzc3Nzc3Nzc3Nzc3Nzc3Nzc3Nzc3Nzc3Nzc3N//AABEIAFoAgwMBEQACEQEDEQH/xAAcAAACAgMBAQAAAAAAAAAAAAAABgUHAQMEAgj/xAA4EAABAwMDAgMGBAYCAwEAAAABAgMEAAURBhIhMUETIlEHFGFxgZEVMkKyI1JiobHBJIIlM3IW/8QAGgEBAAMBAQEAAAAAAAAAAAAAAAMEBQIBBv/EADERAAICAQIEAwcEAgMAAAAAAAABAgMRBBITITFBUWHwBSJxgZGhsRQzwdEyQiMk4f/aAAwDAQACEQMRAD8Ao2gCgCgCgCgCgO+y2p+8XKPBjqQhbywkLcJCU5IGT9xXjaQLQY9kMKM82xcro+46sK/9KUtgYzjrk4wPgRkcc8Z2p106k3FdCeulS6npfsqs72BGnT2twPLmxW3naAU4GSVcdagp9pWzliSR1KhJcmI2t9GStIymGnpTUpD4O1baSCCMZSR689ia1oT3xyV2sCvXZ4FAFAFAFAFAFAFAFAFAFAFAO/s20f8A/oZK5c1OYEdW3YCMvOYJAxkEpGOcc8geuKmr1PBjy6klcNzLE1odIQZEFL6I8KQ9uQtotHhONu7A/L/LuzjjH6fLTrnddW3HqidcOEufQiLdqW+XIXCeG23YTSgxA3NhKJJKthcK3MkkIHTIGSBjjFSaiEG4qfJvr5fTzPak+bXNL7knPav7b6pVmujbhQkqVHfZCm3SMHKVfmHQdCenbGKo0WVQe2yOPXh0LV2nclurZqbmQbpfLe1qFCI8uWylwMkYbUoAANtrPlwcknBzg4ySavqUpNyT5L1lopzjsjhrmzi9p+kWLpGdvVojlE5obpTbTZCXhgqUpI7bR3/UB34z7TrFv2S6PoRyr5ZRTZrRITFAFAFAFAFAFAFAFAFAekBSlpSgEqJwAOpNOgPouHDa0to9hDm33WGwXXVJ5JI5UQRxhRGQCDgn5Y+c/U8fUOPd+vt3LnD2wyUvDL+rNTuS7koFCleK+OQkIB4QMdOwrclimvESCuPEnzLOmulpuNHipTGT4QAUlO0YAJO3HIAxwPlWNHnJyfP13Nratu1cjcpiZaYcWSpsuOzMJ8NW5fiKSnfuJVxu2hYzgZyO4FdKUbU01iK79PSIv8Zra+eOhDaxtgvlij/hZPvEZ1amkKXtUnkHac8gnPGT27VJpZumxufRnGord0Pd6oYdDXty9WVtU8KVcI7xYfbXkKLgI820EZUcjJOAPlmq+rq4VnudHz+Xx9ZKcJZWGU7rm0CyammxEIKGt/iNJ27QEq5wB6A5H0rb01nEqUn1K01iWCAqc5CgCgCgCgCgCgCgCgJDT4Sq/W0L/KZbQPy3io7f25fA9XUvj2quKb9n0zZlKtrQJISCMqSDwDxkE9M96+b9m7Hq+XmXr88MqvS7S4tlYkeJ4aZFwbKiBklCOMH6qNb1rzNrwTIqo4gpeaGm7yJnuQttuUBcpEFUkObvMloLKPCZHUuEpyT2A4qpVVW3un0X58WWLrrJS2QMaAuEi4z59p1Wl6UpMTx2mrgzwwSQFFKVdMpUOcZ9OvPes/4a91aK9HvzSbGmQHAh1yUlTLDKC44WiOEpKdu76JIOM4+HArLjZvaSeX0/JrOMa/eIL2R3Zdx1DqOalCkNSXW3PD5wnPifTPHerPtRcGmEfD/wy6Xvsk0LPtuKDq1koxn3RO7Geu9fXPerfsqTlp8vxItQsTK9rSIAoAoAoAoAoAoDOKAZNNaJu+oNi2WgxGUeH3sgHp0HU9aq36ymjlJ8yaFE580M149mS7AqG6bmourUkhwNYCFE4Hc9FlH0JNRvVp/68mvX2ye8HzLIktx79pQtOpw0+ztKEjG3joMZyU/DuK+aTlp9Vnwfr6mhGPFqwVi+w6plVvXHTHbiq2+EnhIycHJ7nOTnvX00ZRWLE85K2HJbMYSJvTep27HbjYtRRjcbWhxQbfR5lsKJGM5PAyeFA5BxUdlbse+D+Xr8HLg4cpfUnG2RaFJbtkdK/fQHH5D7gW8vr+dQGSQMfUk1m2XcbLm8Y7Gjp9Mo819TqubhTAfky1eVLalLIwPLglQ9MYqtS82KMfEs2YjB+SIz2M2v8OsD0+QlCVy1b8nqEAeXPp+o/JQqf2zqFKxVrt69fAyNLXhbmLOu4CdSa2iMok4Mhwxk484bQgncT/2KgB6JrU0C4dGEvP6la33p5OXUnsmvNnaU/FcbmspGSB5Fj6ZI/vk9hU71dcZbZ8jnhSayiv3G1tOKbcQpC0kpUlQwQR1Bq11WURnigCgCgJexWNd2TIX44aQygknbuJISVYxx/Lj5kcVFZaq8J9ySFbn0I+XGXEkux3NpU0spUUnIOPSpIvKTRxJYeGMmkbQ0l9ufcoynWQTsaIAClDpuz26/aq2os5OMXhk9VfNSa5FrWY6he8GVEfiqjqSD7uU4QU9BhW0nPxyrvWHc9MswlF58e/5/ou4seJRl/RxXKZcrg6iO7/z5ZdLbbDTJbaCTtyS6TwPy57EjAGeKtV4cfBJfF/T18SN4jz6tnixSZmnbm7bL4pCjJWFsOoTtTlXOznBAyVEE8k7h1xmDV0w1EeJV26/367YJKJOEsS7nm+MW+bIW8ULUEJCyWFBPm6IHTGScAcZ6+nHejldCKT+/r18zvUcOLNVujRCxlra4l05Kyc+IM57/AOK9usmpc+xcoVco+7zJdB53FQBz5RmqMufItPkuZolzHl2uXLjuNOtxFYfGT/DGNyiRjnygkc9qtU6XGJPln0jO1Gsim4x5+J0Sb23CtaERFpQ6pIDIBPl9CB3A4446gdxVaGllZbmfr167ntjioJRF+2Wy7WN2HLusbxMs/wACYljxVY5OHOpHAzgZGTyQTitayeVmp48s/gz6tuds1y8R0jXe7Trcp5LDT2UAthSnE78jv5SU9f6u/TFZuo2Tnib6evXQninBJwK41vbFXeSC5AZhSWkqG9K92/0BPTHB+PP0Ono7I1x5SbTIbq5WPokytX470dzw32ltr/lUMGtRNNZRQawTZ0w6LAm6e8IKlEbWNvJG3dnOfT4Y+NR8ZcTZgk4b27hfqUjGXR8wNLEcKCXFymlJOAcjkEf4+VVtRFtZ8mS1PD+aLidsunrcwxIZZhxlKQlSnyhIwSOpV1A4J61jW23SmorLNCEK4psr3SbX46IsBuf4UhL5StRbCw6fMruRjcARnmtO/FTcmuT+3QqQk5JR8Doi69kaQl3G2+4F4+8lQBe2htO0AJA2n5npz86is0ENQoyb7fU8d8otpI22D2ixG7uLlMSuOlKinwAtTg2kDGOO2FDp3T6V09E4pKPMK/OdxCa+185qh4IjRhHioztK8FasgZz2AyM9znvU9GkjS2+7I53SkR8PWMxq0fh76A7tUXEO7vOV7SAVZznB2kf/ADjvUvAhv3+B5xHtwddi9ol0s8YRUsxpEdPRCwRj5YNQXaGu2W7LTOoXyisHfK9qtzcQUxbfCjKP60hR/wB4qNezKv8AaTZ3+qn2SI2wa7n2p64vPASFy20gAkBKVBYVkjHIwCPr1FWp6euUNmORDxJZyyHt1/lwpbTvldZbUD7uvlG0fp9QMEj613KqMuoVkksFl3/2q2+96ebjhlceS4Ql9BGdqQMnaR1zjaDxjOe1UHo58ZS7ImVy2teJAQvajKh2Z6A1ACFuoXufQ/hQWrPmHl7cd+1ST0EJz3NnPHljBNSlNtWpm8TErbjyipKWxglYQk7lk5yMHy9+cY61EqnnYupNxVlsYNFtWLUNuKpyY0hHiKPhOBKwgdenOM8nnB5NQTVlVuDvfCcMifqyTEtV5vsGOWm4seN4cdkJSCFqIScHGeiflg1dhFzSfmQOSX0Kyq8VjIJHSgPS3XF43rUrHTcc0AyaDjSZV2AgXJqHLQQ4hLqCoOBJ3dvl/mqmtnGFeZxyifTwc54i8M6tfaduVveF2uEpqWZjpC1tJKdqsZAIPqM/Y5rnRaqq5bYLGDrUaedXOXcTqulYbNH6FnapivSWJDMZptfhhTwPnVjJxj0yPvVPU66vTSUZLLJ6qJWLKIzUljTY7oq2pmtTJDZ2uBlCgEq48vPU89qnpt4sN6WERzhtltJ2J7OprVtFy1HPi2SGenvOVOq9MIHf4Zz8Kheri5ba1uZ2qXjMuRzI0/pV1YbZ1mAs8JL9scQj6q3HH2qTi2d6/ujnZDtI133Q11skdqc+qPJtayn/AJ8NfitpBOAT3/t8KQ1EJvC6+AlW49Sej+yWbMt7c2DeIL7brQcawlY3gjI6jjNVZe0q4S2yTRKtNJrKZXS0KQpSVpKVJOCkjBB9K0SsdVpgPXS4x4MYZdfcCE+g+J+A61xZYq4OcuiOoRc5KKHvV1iuVv07FRdr5EVFiJLUdtthQUsk7tucd8cn4c1n6bWV324hF59eZZt00qoZkyukrUlQUklKh0I4IrTKgKcWs5WoqJ7k5oDzQBQBQDDoI41REP8AS5+xVVtYs0P5fkm0/wC6vXYsG2OI1loYxnVAyC34alH9LyOUk/Pj6E1kTX6PWbv9X+GaMf8AsabHdFRojvLlJjJaV46l+GG8YO7OMfPNb7aSy+hkpNvCLm0VIahah/AIqwpi128pcUOi31rSXD98D4YNfPaxOVHHl1lL7YeDToSVnDXZfcxpSysS/aHqC8SkJWIsrYwlXICzyVfQdPnUmq1Dr01dce6I6qt1spPsIPtMvz171VLBcUY0NZYYRngBJwo/MkE/b0rT0VSrpXi+ZVvnumxT5q2Qkum/zE6ZXYAs+6qkh/lXTA/KB6Z5+YqPhR4nE74O9727S0NH3/8ADpWm7c8vDM61JSM9nErXt+4JH2rF1dPEhZNdYy+2EXaZ7XGL7oTfaxZk23UqpbCcR7hl4Y6Bf6x98H/tV/2dfxqFnquRX1VXDs+Jx6a/8NY7hf1DD6h7nBP9ah51D5J/3Xd64tsaO3V/BdPqz2r3ISs+SG32rKB03BT6SU/sVWd7KX/NP13Leu/biVRW6ZYUAUAUAUBO6JONRxj6Bf7TUGq/aZLR+4iU9m13MG7KhOKwzLGBk9HB+X78j7VX9o0cSvcuqJtHbsnjsyeu1tj2fUE3UxSnwG2fGaR2MlXl/wA+b61Wrud9MaO75P4InnWqrJW9l0+Jweyd5Tl8uL7qipxbG5Sj1JKwTXftaK4MUvH+Dj2fztefD+UNulLilOoNSRM/xBM8bHcggD/X96o62pumqflgs6aSdk4+ZU2p47kXUVyadGFCSs/ME5B+oIrd08lOmLXgjLui42ST8Tnttyk21wuRS3lQwoOMocBHyUCKknBTWGcxk49C0dXORWNEJnQrfBjSJDbW5TcZGU7wNwHFYel3vVuuUm0s932NK9RVCmksvHYS9TPOMQtMvNKKHG4CVIUOoIWSDWlp0nO1Px/hFO3kofD+WPV+QnWmjGZDCQZJSl5oDs4OFp/cPtWXp3+j1Tg+nrBfsj+ooUl1EDWMhtp6NZYqsxrY34ZI6LdPK1ffj6VraSLadsusufy7IoahpNVrpH89xo9pjviWKMPSSn9qqpezo7bZfD+SzrXmESs61zOCgCgCgCgGHScm22+SZk2SUugFKEBtRx8SQKr6iNk47YomplCLzIjbgqOxci7anypoL3tnaUlBzkDn09amjlx99EcsJ+6TOq9SC8RYbDOQkJ8R5OP19MfTn71W02m4UpP1gmuv4iSOrQt1tVjS/ImTdr7yQjww0o7Ug56478VHrabLsRiuSJNLbCrMpPmabxfGIupfxywzCpbpy40ttQ7AEHPVJx9KkrpcqeFaiOdijbvrZ13a56f1U229KeXa7ikbStTZWhQ9Mjr8zioqab9Nyj70foySyyq/m+UiJbstnbWFS9Qxi0OoYaWpRHw44qd3Wv8AxrIlXWusyX1HquBdorVnipWxCBSFSHEklKU9MJHNVtNo51TdsnmRNdqYziq4rCNGqZlhuNrhtQJjgegt+G2lTKsOJ44JxweM/U1JpoXQnJzXJ8zi+dUopRfTkatKao/BrZOiuEkkeJGGP19CPl0P0NdarSK6cZfX4CjUcKLQvQvBkTgbhILbSlbnHCkqJ9enc1allR91FdYb5jhqK8Wa7W1UcTtrgUFtnwl/mGeDx0wTVLT021Ty0Wrra7I4TFWM3blxh7wtTTuF8gk4wE7eMdyVfar5TOSWlpMl1MclTIWrw1HqU54/tQGmgCgCgCgCgCgM5PrQGKAKAKAKAzk+tAYoAoDOaAMmgMdaAKA//9k="/>
          <p:cNvSpPr>
            <a:spLocks noChangeAspect="1" noChangeArrowheads="1"/>
          </p:cNvSpPr>
          <p:nvPr/>
        </p:nvSpPr>
        <p:spPr bwMode="auto">
          <a:xfrm>
            <a:off x="0" y="-879475"/>
            <a:ext cx="2581275" cy="17716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11268" name="AutoShape 4" descr="data:image/jpeg;base64,/9j/4AAQSkZJRgABAQAAAQABAAD/2wCEAAkGBwgHBgkIBwgKCgkLDRYPDQwMDRsUFRAWIB0iIiAdHx8kKDQsJCYxJx8fLT0tMTU3Ojo6Iys/RD84QzQ5OjcBCgoKDQwNGg8PGjclHyU3Nzc3Nzc3Nzc3Nzc3Nzc3Nzc3Nzc3Nzc3Nzc3Nzc3Nzc3Nzc3Nzc3Nzc3Nzc3Nzc3N//AABEIAFoAgwMBEQACEQEDEQH/xAAcAAACAgMBAQAAAAAAAAAAAAAABgUHAQMEAgj/xAA4EAABAwMDAgMGBAYCAwEAAAABAgMEAAURBhIhMUETIlEHFGFxgZEVMkKyI1JiobHBJIIlM3IW/8QAGgEBAAMBAQEAAAAAAAAAAAAAAAMEBQIBBv/EADERAAICAQIEAwcEAgMAAAAAAAABAgMRBBITITFBUWHwBSJxgZGhsRQzwdEyQiMk4f/aAAwDAQACEQMRAD8Ao2gCgCgCgCgCgO+y2p+8XKPBjqQhbywkLcJCU5IGT9xXjaQLQY9kMKM82xcro+46sK/9KUtgYzjrk4wPgRkcc8Z2p106k3FdCeulS6npfsqs72BGnT2twPLmxW3naAU4GSVcdagp9pWzliSR1KhJcmI2t9GStIymGnpTUpD4O1baSCCMZSR689ia1oT3xyV2sCvXZ4FAFAFAFAFAFAFAFAFAFAFAO/s20f8A/oZK5c1OYEdW3YCMvOYJAxkEpGOcc8geuKmr1PBjy6klcNzLE1odIQZEFL6I8KQ9uQtotHhONu7A/L/LuzjjH6fLTrnddW3HqidcOEufQiLdqW+XIXCeG23YTSgxA3NhKJJKthcK3MkkIHTIGSBjjFSaiEG4qfJvr5fTzPak+bXNL7knPav7b6pVmujbhQkqVHfZCm3SMHKVfmHQdCenbGKo0WVQe2yOPXh0LV2nclurZqbmQbpfLe1qFCI8uWylwMkYbUoAANtrPlwcknBzg4ySavqUpNyT5L1lopzjsjhrmzi9p+kWLpGdvVojlE5obpTbTZCXhgqUpI7bR3/UB34z7TrFv2S6PoRyr5ZRTZrRITFAFAFAFAFAFAFAFAFAekBSlpSgEqJwAOpNOgPouHDa0to9hDm33WGwXXVJ5JI5UQRxhRGQCDgn5Y+c/U8fUOPd+vt3LnD2wyUvDL+rNTuS7koFCleK+OQkIB4QMdOwrclimvESCuPEnzLOmulpuNHipTGT4QAUlO0YAJO3HIAxwPlWNHnJyfP13Nratu1cjcpiZaYcWSpsuOzMJ8NW5fiKSnfuJVxu2hYzgZyO4FdKUbU01iK79PSIv8Zra+eOhDaxtgvlij/hZPvEZ1amkKXtUnkHac8gnPGT27VJpZumxufRnGord0Pd6oYdDXty9WVtU8KVcI7xYfbXkKLgI820EZUcjJOAPlmq+rq4VnudHz+Xx9ZKcJZWGU7rm0CyammxEIKGt/iNJ27QEq5wB6A5H0rb01nEqUn1K01iWCAqc5CgCgCgCgCgCgCgCgJDT4Sq/W0L/KZbQPy3io7f25fA9XUvj2quKb9n0zZlKtrQJISCMqSDwDxkE9M96+b9m7Hq+XmXr88MqvS7S4tlYkeJ4aZFwbKiBklCOMH6qNb1rzNrwTIqo4gpeaGm7yJnuQttuUBcpEFUkObvMloLKPCZHUuEpyT2A4qpVVW3un0X58WWLrrJS2QMaAuEi4z59p1Wl6UpMTx2mrgzwwSQFFKVdMpUOcZ9OvPes/4a91aK9HvzSbGmQHAh1yUlTLDKC44WiOEpKdu76JIOM4+HArLjZvaSeX0/JrOMa/eIL2R3Zdx1DqOalCkNSXW3PD5wnPifTPHerPtRcGmEfD/wy6Xvsk0LPtuKDq1koxn3RO7Geu9fXPerfsqTlp8vxItQsTK9rSIAoAoAoAoAoAoDOKAZNNaJu+oNi2WgxGUeH3sgHp0HU9aq36ymjlJ8yaFE580M149mS7AqG6bmourUkhwNYCFE4Hc9FlH0JNRvVp/68mvX2ye8HzLIktx79pQtOpw0+ztKEjG3joMZyU/DuK+aTlp9Vnwfr6mhGPFqwVi+w6plVvXHTHbiq2+EnhIycHJ7nOTnvX00ZRWLE85K2HJbMYSJvTep27HbjYtRRjcbWhxQbfR5lsKJGM5PAyeFA5BxUdlbse+D+Xr8HLg4cpfUnG2RaFJbtkdK/fQHH5D7gW8vr+dQGSQMfUk1m2XcbLm8Y7Gjp9Mo819TqubhTAfky1eVLalLIwPLglQ9MYqtS82KMfEs2YjB+SIz2M2v8OsD0+QlCVy1b8nqEAeXPp+o/JQqf2zqFKxVrt69fAyNLXhbmLOu4CdSa2iMok4Mhwxk484bQgncT/2KgB6JrU0C4dGEvP6la33p5OXUnsmvNnaU/FcbmspGSB5Fj6ZI/vk9hU71dcZbZ8jnhSayiv3G1tOKbcQpC0kpUlQwQR1Bq11WURnigCgCgJexWNd2TIX44aQygknbuJISVYxx/Lj5kcVFZaq8J9ySFbn0I+XGXEkux3NpU0spUUnIOPSpIvKTRxJYeGMmkbQ0l9ufcoynWQTsaIAClDpuz26/aq2os5OMXhk9VfNSa5FrWY6he8GVEfiqjqSD7uU4QU9BhW0nPxyrvWHc9MswlF58e/5/ou4seJRl/RxXKZcrg6iO7/z5ZdLbbDTJbaCTtyS6TwPy57EjAGeKtV4cfBJfF/T18SN4jz6tnixSZmnbm7bL4pCjJWFsOoTtTlXOznBAyVEE8k7h1xmDV0w1EeJV26/367YJKJOEsS7nm+MW+bIW8ULUEJCyWFBPm6IHTGScAcZ6+nHejldCKT+/r18zvUcOLNVujRCxlra4l05Kyc+IM57/AOK9usmpc+xcoVco+7zJdB53FQBz5RmqMufItPkuZolzHl2uXLjuNOtxFYfGT/DGNyiRjnygkc9qtU6XGJPln0jO1Gsim4x5+J0Sb23CtaERFpQ6pIDIBPl9CB3A4446gdxVaGllZbmfr167ntjioJRF+2Wy7WN2HLusbxMs/wACYljxVY5OHOpHAzgZGTyQTitayeVmp48s/gz6tuds1y8R0jXe7Trcp5LDT2UAthSnE78jv5SU9f6u/TFZuo2Tnib6evXQninBJwK41vbFXeSC5AZhSWkqG9K92/0BPTHB+PP0Ono7I1x5SbTIbq5WPokytX470dzw32ltr/lUMGtRNNZRQawTZ0w6LAm6e8IKlEbWNvJG3dnOfT4Y+NR8ZcTZgk4b27hfqUjGXR8wNLEcKCXFymlJOAcjkEf4+VVtRFtZ8mS1PD+aLidsunrcwxIZZhxlKQlSnyhIwSOpV1A4J61jW23SmorLNCEK4psr3SbX46IsBuf4UhL5StRbCw6fMruRjcARnmtO/FTcmuT+3QqQk5JR8Doi69kaQl3G2+4F4+8lQBe2htO0AJA2n5npz86is0ENQoyb7fU8d8otpI22D2ixG7uLlMSuOlKinwAtTg2kDGOO2FDp3T6V09E4pKPMK/OdxCa+185qh4IjRhHioztK8FasgZz2AyM9znvU9GkjS2+7I53SkR8PWMxq0fh76A7tUXEO7vOV7SAVZznB2kf/ADjvUvAhv3+B5xHtwddi9ol0s8YRUsxpEdPRCwRj5YNQXaGu2W7LTOoXyisHfK9qtzcQUxbfCjKP60hR/wB4qNezKv8AaTZ3+qn2SI2wa7n2p64vPASFy20gAkBKVBYVkjHIwCPr1FWp6euUNmORDxJZyyHt1/lwpbTvldZbUD7uvlG0fp9QMEj613KqMuoVkksFl3/2q2+96ebjhlceS4Ql9BGdqQMnaR1zjaDxjOe1UHo58ZS7ImVy2teJAQvajKh2Z6A1ACFuoXufQ/hQWrPmHl7cd+1ST0EJz3NnPHljBNSlNtWpm8TErbjyipKWxglYQk7lk5yMHy9+cY61EqnnYupNxVlsYNFtWLUNuKpyY0hHiKPhOBKwgdenOM8nnB5NQTVlVuDvfCcMifqyTEtV5vsGOWm4seN4cdkJSCFqIScHGeiflg1dhFzSfmQOSX0Kyq8VjIJHSgPS3XF43rUrHTcc0AyaDjSZV2AgXJqHLQQ4hLqCoOBJ3dvl/mqmtnGFeZxyifTwc54i8M6tfaduVveF2uEpqWZjpC1tJKdqsZAIPqM/Y5rnRaqq5bYLGDrUaedXOXcTqulYbNH6FnapivSWJDMZptfhhTwPnVjJxj0yPvVPU66vTSUZLLJ6qJWLKIzUljTY7oq2pmtTJDZ2uBlCgEq48vPU89qnpt4sN6WERzhtltJ2J7OprVtFy1HPi2SGenvOVOq9MIHf4Zz8Kheri5ba1uZ2qXjMuRzI0/pV1YbZ1mAs8JL9scQj6q3HH2qTi2d6/ujnZDtI133Q11skdqc+qPJtayn/AJ8NfitpBOAT3/t8KQ1EJvC6+AlW49Sej+yWbMt7c2DeIL7brQcawlY3gjI6jjNVZe0q4S2yTRKtNJrKZXS0KQpSVpKVJOCkjBB9K0SsdVpgPXS4x4MYZdfcCE+g+J+A61xZYq4OcuiOoRc5KKHvV1iuVv07FRdr5EVFiJLUdtthQUsk7tucd8cn4c1n6bWV324hF59eZZt00qoZkyukrUlQUklKh0I4IrTKgKcWs5WoqJ7k5oDzQBQBQDDoI41REP8AS5+xVVtYs0P5fkm0/wC6vXYsG2OI1loYxnVAyC34alH9LyOUk/Pj6E1kTX6PWbv9X+GaMf8AsabHdFRojvLlJjJaV46l+GG8YO7OMfPNb7aSy+hkpNvCLm0VIahah/AIqwpi128pcUOi31rSXD98D4YNfPaxOVHHl1lL7YeDToSVnDXZfcxpSysS/aHqC8SkJWIsrYwlXICzyVfQdPnUmq1Dr01dce6I6qt1spPsIPtMvz171VLBcUY0NZYYRngBJwo/MkE/b0rT0VSrpXi+ZVvnumxT5q2Qkum/zE6ZXYAs+6qkh/lXTA/KB6Z5+YqPhR4nE74O9727S0NH3/8ADpWm7c8vDM61JSM9nErXt+4JH2rF1dPEhZNdYy+2EXaZ7XGL7oTfaxZk23UqpbCcR7hl4Y6Bf6x98H/tV/2dfxqFnquRX1VXDs+Jx6a/8NY7hf1DD6h7nBP9ah51D5J/3Xd64tsaO3V/BdPqz2r3ISs+SG32rKB03BT6SU/sVWd7KX/NP13Leu/biVRW6ZYUAUAUAUBO6JONRxj6Bf7TUGq/aZLR+4iU9m13MG7KhOKwzLGBk9HB+X78j7VX9o0cSvcuqJtHbsnjsyeu1tj2fUE3UxSnwG2fGaR2MlXl/wA+b61Wrud9MaO75P4InnWqrJW9l0+Jweyd5Tl8uL7qipxbG5Sj1JKwTXftaK4MUvH+Dj2fztefD+UNulLilOoNSRM/xBM8bHcggD/X96o62pumqflgs6aSdk4+ZU2p47kXUVyadGFCSs/ME5B+oIrd08lOmLXgjLui42ST8Tnttyk21wuRS3lQwoOMocBHyUCKknBTWGcxk49C0dXORWNEJnQrfBjSJDbW5TcZGU7wNwHFYel3vVuuUm0s932NK9RVCmksvHYS9TPOMQtMvNKKHG4CVIUOoIWSDWlp0nO1Px/hFO3kofD+WPV+QnWmjGZDCQZJSl5oDs4OFp/cPtWXp3+j1Tg+nrBfsj+ooUl1EDWMhtp6NZYqsxrY34ZI6LdPK1ffj6VraSLadsusufy7IoahpNVrpH89xo9pjviWKMPSSn9qqpezo7bZfD+SzrXmESs61zOCgCgCgCgGHScm22+SZk2SUugFKEBtRx8SQKr6iNk47YomplCLzIjbgqOxci7anypoL3tnaUlBzkDn09amjlx99EcsJ+6TOq9SC8RYbDOQkJ8R5OP19MfTn71W02m4UpP1gmuv4iSOrQt1tVjS/ImTdr7yQjww0o7Ug56478VHrabLsRiuSJNLbCrMpPmabxfGIupfxywzCpbpy40ttQ7AEHPVJx9KkrpcqeFaiOdijbvrZ13a56f1U229KeXa7ikbStTZWhQ9Mjr8zioqab9Nyj70foySyyq/m+UiJbstnbWFS9Qxi0OoYaWpRHw44qd3Wv8AxrIlXWusyX1HquBdorVnipWxCBSFSHEklKU9MJHNVtNo51TdsnmRNdqYziq4rCNGqZlhuNrhtQJjgegt+G2lTKsOJ44JxweM/U1JpoXQnJzXJ8zi+dUopRfTkatKao/BrZOiuEkkeJGGP19CPl0P0NdarSK6cZfX4CjUcKLQvQvBkTgbhILbSlbnHCkqJ9enc1allR91FdYb5jhqK8Wa7W1UcTtrgUFtnwl/mGeDx0wTVLT021Ty0Wrra7I4TFWM3blxh7wtTTuF8gk4wE7eMdyVfar5TOSWlpMl1MclTIWrw1HqU54/tQGmgCgCgCgCgCgM5PrQGKAKAKAKAzk+tAYoAoDOaAMmgMdaAKA//9k="/>
          <p:cNvSpPr>
            <a:spLocks noChangeAspect="1" noChangeArrowheads="1"/>
          </p:cNvSpPr>
          <p:nvPr/>
        </p:nvSpPr>
        <p:spPr bwMode="auto">
          <a:xfrm>
            <a:off x="0" y="-879475"/>
            <a:ext cx="2581275" cy="17716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8" name="7 Imagen" descr="icolor_azl_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16632"/>
            <a:ext cx="1656184" cy="2007009"/>
          </a:xfrm>
          <a:prstGeom prst="rect">
            <a:avLst/>
          </a:prstGeom>
        </p:spPr>
      </p:pic>
      <p:pic>
        <p:nvPicPr>
          <p:cNvPr id="9" name="8 Imagen" descr="DIE_Simbol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32240" y="188640"/>
            <a:ext cx="2216496" cy="1440160"/>
          </a:xfrm>
          <a:prstGeom prst="rect">
            <a:avLst/>
          </a:prstGeom>
        </p:spPr>
      </p:pic>
      <p:sp>
        <p:nvSpPr>
          <p:cNvPr id="10" name="9 Rectángulo"/>
          <p:cNvSpPr/>
          <p:nvPr/>
        </p:nvSpPr>
        <p:spPr>
          <a:xfrm>
            <a:off x="179512" y="2492896"/>
            <a:ext cx="876922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Cálculo de capacidad de transmisión de Líneas</a:t>
            </a:r>
            <a:endParaRPr lang="es-ES" sz="44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2A95C-1C73-850C-2EDE-8CCDB899B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2519E9F5-B615-162C-850D-16D7FB1C217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F08B016C-3E3C-3302-0446-AE68453F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2</a:t>
            </a:fld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B9E181-03CD-F5A1-2838-7EFEE1D3EDCB}"/>
              </a:ext>
            </a:extLst>
          </p:cNvPr>
          <p:cNvSpPr txBox="1"/>
          <p:nvPr/>
        </p:nvSpPr>
        <p:spPr>
          <a:xfrm>
            <a:off x="3110530" y="2420888"/>
            <a:ext cx="527836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>
                <a:latin typeface="Abadi" panose="020F0502020204030204" pitchFamily="34" charset="0"/>
              </a:rPr>
              <a:t>Objetivo.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>
                <a:latin typeface="Abadi" panose="020F0502020204030204" pitchFamily="34" charset="0"/>
              </a:rPr>
              <a:t>Conductores comerciales.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>
                <a:latin typeface="Abadi" panose="020F0502020204030204" pitchFamily="34" charset="0"/>
              </a:rPr>
              <a:t>Balance de calor.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>
                <a:latin typeface="Abadi" panose="020F0502020204030204" pitchFamily="34" charset="0"/>
              </a:rPr>
              <a:t>Pérdida por convección.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>
                <a:latin typeface="Abadi" panose="020F0502020204030204" pitchFamily="34" charset="0"/>
              </a:rPr>
              <a:t>Ganancia por radiación solar.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>
                <a:latin typeface="Abadi" panose="020F0502020204030204" pitchFamily="34" charset="0"/>
              </a:rPr>
              <a:t>Perdida por radiación del conductor.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>
                <a:latin typeface="Abadi" panose="020F0502020204030204" pitchFamily="34" charset="0"/>
              </a:rPr>
              <a:t>Análisis sensibilidad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>
                <a:latin typeface="Abadi" panose="020F0502020204030204" pitchFamily="34" charset="0"/>
              </a:rPr>
              <a:t>Análisis transitorio.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b="1" dirty="0">
                <a:latin typeface="Abadi" panose="020F0502020204030204" pitchFamily="34" charset="0"/>
              </a:rPr>
              <a:t>Conclusiones.</a:t>
            </a:r>
          </a:p>
          <a:p>
            <a:pPr algn="just"/>
            <a:endParaRPr lang="es-MX" sz="2400" b="1" dirty="0">
              <a:latin typeface="Abadi" panose="020F0502020204030204" pitchFamily="34" charset="0"/>
            </a:endParaRPr>
          </a:p>
          <a:p>
            <a:pPr algn="just"/>
            <a:r>
              <a:rPr lang="es-MX" sz="2400" b="1" dirty="0">
                <a:latin typeface="Abadi" panose="020F0502020204030204" pitchFamily="34" charset="0"/>
              </a:rPr>
              <a:t> </a:t>
            </a:r>
          </a:p>
          <a:p>
            <a:pPr algn="just"/>
            <a:endParaRPr lang="es-MX" sz="2400" b="1" dirty="0">
              <a:latin typeface="Abadi" panose="020F0502020204030204" pitchFamily="34" charset="0"/>
            </a:endParaRPr>
          </a:p>
          <a:p>
            <a:pPr algn="just"/>
            <a:endParaRPr lang="es-MX" sz="2400" b="1" dirty="0">
              <a:latin typeface="Abadi" panose="020F0502020204030204" pitchFamily="34" charset="0"/>
            </a:endParaRPr>
          </a:p>
          <a:p>
            <a:pPr algn="just"/>
            <a:endParaRPr lang="es-MX" sz="2400" b="1" dirty="0">
              <a:latin typeface="Abadi" panose="020F0502020204030204" pitchFamily="34" charset="0"/>
            </a:endParaRPr>
          </a:p>
          <a:p>
            <a:pPr algn="just"/>
            <a:endParaRPr lang="es-CL" sz="2400" b="1" dirty="0">
              <a:latin typeface="Abadi" panose="020F050202020403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71273A-1C1D-6502-7F2D-F39FF3C56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485" y="187713"/>
            <a:ext cx="3769568" cy="250184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endParaRPr lang="es-CL" sz="6000" b="1" dirty="0">
              <a:solidFill>
                <a:schemeClr val="accent6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algn="ctr">
              <a:spcBef>
                <a:spcPct val="20000"/>
              </a:spcBef>
            </a:pPr>
            <a:r>
              <a:rPr lang="es-CL" sz="6000" b="1" dirty="0">
                <a:solidFill>
                  <a:schemeClr val="accent6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INDICE</a:t>
            </a:r>
          </a:p>
        </p:txBody>
      </p:sp>
    </p:spTree>
    <p:extLst>
      <p:ext uri="{BB962C8B-B14F-4D97-AF65-F5344CB8AC3E}">
        <p14:creationId xmlns:p14="http://schemas.microsoft.com/office/powerpoint/2010/main" val="2850766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1CFF8-B513-B641-D26E-F9FDBDE9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E12981DE-B6D4-F680-29B0-F65864CE2E8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6659A596-9479-7C38-6F2B-B0E73111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3</a:t>
            </a:fld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3B94C1C-F698-3D09-6A02-20A73D1CF2D4}"/>
              </a:ext>
            </a:extLst>
          </p:cNvPr>
          <p:cNvSpPr txBox="1"/>
          <p:nvPr/>
        </p:nvSpPr>
        <p:spPr>
          <a:xfrm>
            <a:off x="2915816" y="3284984"/>
            <a:ext cx="52783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dirty="0"/>
              <a:t>Conocer la metodología para calcular la capacidad de transmisión de las líneas eléctricas y obtener sus valores.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ED1E1C-D7B0-A48C-B275-FADB0379D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485" y="187713"/>
            <a:ext cx="3769568" cy="250184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endParaRPr lang="es-CL" sz="6000" b="1" dirty="0">
              <a:solidFill>
                <a:schemeClr val="accent6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algn="ctr">
              <a:spcBef>
                <a:spcPct val="20000"/>
              </a:spcBef>
            </a:pPr>
            <a:r>
              <a:rPr lang="es-CL" sz="6000" b="1" dirty="0">
                <a:solidFill>
                  <a:schemeClr val="accent6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3203369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4</a:t>
            </a:fld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3752B058-C922-8BC1-1022-9B8E15937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CONDUCTORES COMERCIALES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23045DC-5551-87EC-5072-8E89DDF47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2996953"/>
            <a:ext cx="5500550" cy="252028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4AC23D7-5735-1E4B-6422-06196379D7BD}"/>
              </a:ext>
            </a:extLst>
          </p:cNvPr>
          <p:cNvSpPr txBox="1"/>
          <p:nvPr/>
        </p:nvSpPr>
        <p:spPr>
          <a:xfrm>
            <a:off x="301752" y="1710845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Cálculo de Capacidades para Distintas Secciones y Condiciones</a:t>
            </a:r>
            <a:endParaRPr lang="es-CL" sz="2400" b="1" dirty="0">
              <a:latin typeface="Abad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5</a:t>
            </a:fld>
            <a:endParaRPr lang="es-CL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0C161C7-3C26-1FEB-3817-313B323308E8}"/>
              </a:ext>
            </a:extLst>
          </p:cNvPr>
          <p:cNvSpPr txBox="1"/>
          <p:nvPr/>
        </p:nvSpPr>
        <p:spPr>
          <a:xfrm>
            <a:off x="2893262" y="2681316"/>
            <a:ext cx="561662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latin typeface="Abadi" panose="020F0502020204030204" pitchFamily="34" charset="0"/>
              </a:rPr>
              <a:t>La capacidad térmica de un conductor se determina mediante el balance de energía en estado estacionario, donde el calor generado internamente por el efecto Joule (</a:t>
            </a:r>
            <a:r>
              <a:rPr lang="es-ES" sz="1400" dirty="0" err="1">
                <a:latin typeface="Abadi" panose="020F0502020204030204" pitchFamily="34" charset="0"/>
              </a:rPr>
              <a:t>Qgen</a:t>
            </a:r>
            <a:r>
              <a:rPr lang="es-ES" sz="1400" dirty="0">
                <a:latin typeface="Abadi" panose="020F0502020204030204" pitchFamily="34" charset="0"/>
              </a:rPr>
              <a:t>) debe igualar al calor disipado al ambiente por convección (</a:t>
            </a:r>
            <a:r>
              <a:rPr lang="es-ES" sz="1400" dirty="0" err="1">
                <a:latin typeface="Abadi" panose="020F0502020204030204" pitchFamily="34" charset="0"/>
              </a:rPr>
              <a:t>Qconv</a:t>
            </a:r>
            <a:r>
              <a:rPr lang="es-ES" sz="1400" dirty="0">
                <a:latin typeface="Abadi" panose="020F0502020204030204" pitchFamily="34" charset="0"/>
              </a:rPr>
              <a:t>) y radiación (</a:t>
            </a:r>
            <a:r>
              <a:rPr lang="es-ES" sz="1400" dirty="0" err="1">
                <a:latin typeface="Abadi" panose="020F0502020204030204" pitchFamily="34" charset="0"/>
              </a:rPr>
              <a:t>Qrad</a:t>
            </a:r>
            <a:r>
              <a:rPr lang="es-ES" sz="1400" dirty="0">
                <a:latin typeface="Abadi" panose="020F0502020204030204" pitchFamily="34" charset="0"/>
              </a:rPr>
              <a:t>):</a:t>
            </a:r>
          </a:p>
          <a:p>
            <a:endParaRPr lang="es-CL" dirty="0"/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0E679DE0-0423-003F-719E-056899B8D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798678"/>
            <a:ext cx="5976664" cy="1718801"/>
          </a:xfrm>
          <a:prstGeom prst="rect">
            <a:avLst/>
          </a:prstGeom>
        </p:spPr>
      </p:pic>
      <p:pic>
        <p:nvPicPr>
          <p:cNvPr id="17" name="Imagen 16" descr="Un conjunto de letras blancas en un fondo blanco&#10;&#10;El contenido generado por IA puede ser incorrecto.">
            <a:extLst>
              <a:ext uri="{FF2B5EF4-FFF2-40B4-BE49-F238E27FC236}">
                <a16:creationId xmlns:a16="http://schemas.microsoft.com/office/drawing/2014/main" id="{6F54534F-CB73-46C5-7BDC-EC2AB4FEC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832" y="3876108"/>
            <a:ext cx="4203583" cy="63922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6BA6984-1CD9-0EF4-1E1E-0C1D55EC5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807" y="5471595"/>
            <a:ext cx="5189498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Qconv</a:t>
            </a:r>
            <a:r>
              <a:rPr kumimoji="0" lang="es-CL" altLang="es-C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Calor disipado por el viento (Convección) [W/m].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Qrad</a:t>
            </a:r>
            <a:r>
              <a:rPr kumimoji="0" lang="es-CL" altLang="es-C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Calor disipado hacia el entorno (Radiación térmica) [W/m].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357218B-80D8-C1EF-8C82-F8691A745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749" y="4861578"/>
            <a:ext cx="514961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I</a:t>
            </a:r>
            <a:r>
              <a:rPr kumimoji="0" lang="es-CL" altLang="es-C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Corriente que circula por la línea [A].</a:t>
            </a:r>
          </a:p>
          <a:p>
            <a:pPr lvl="0" eaLnBrk="0" hangingPunct="0">
              <a:buFontTx/>
              <a:buChar char="•"/>
            </a:pPr>
            <a:r>
              <a:rPr kumimoji="0" lang="es-CL" altLang="es-CL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R(T)</a:t>
            </a:r>
            <a:r>
              <a:rPr kumimoji="0" lang="es-CL" altLang="es-C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Resistencia eléctrica del conductor a la temperatura [</a:t>
            </a:r>
            <a:r>
              <a:rPr lang="el-GR" sz="1400" dirty="0"/>
              <a:t>Ω</a:t>
            </a:r>
            <a:r>
              <a:rPr kumimoji="0" lang="es-CL" altLang="es-C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/m].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Q_sol</a:t>
            </a:r>
            <a:r>
              <a:rPr kumimoji="0" lang="es-CL" altLang="es-C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Calor ganado por el sol (Radiación solar) [W/m].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2076B95-09DD-19CD-F177-1FFC74DD8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$\Omega/m$</a:t>
            </a:r>
            <a:endParaRPr kumimoji="0" lang="es-CL" alt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26C1194E-A2E9-5E56-5A94-812F4C50A1B0}"/>
              </a:ext>
            </a:extLst>
          </p:cNvPr>
          <p:cNvSpPr/>
          <p:nvPr/>
        </p:nvSpPr>
        <p:spPr>
          <a:xfrm rot="17055350">
            <a:off x="4595473" y="592663"/>
            <a:ext cx="307438" cy="10304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26" name="Picture 2" descr="Icono Del Sol PNG, Dibujos, Vectores Para Descarga Gratuita - Pngtree">
            <a:extLst>
              <a:ext uri="{FF2B5EF4-FFF2-40B4-BE49-F238E27FC236}">
                <a16:creationId xmlns:a16="http://schemas.microsoft.com/office/drawing/2014/main" id="{72F32E01-5F52-2F53-AAAC-67514C7EC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572739"/>
            <a:ext cx="673224" cy="67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676B9-70C5-FC4C-F40E-E784A5D8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7E4167AA-CE6A-F676-EC27-69D437C350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0D1DFAD5-5E00-6953-C3EA-0508A1C5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6</a:t>
            </a:fld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5354EAB-BECF-ED1C-0FCE-DE6CDC2E260B}"/>
              </a:ext>
            </a:extLst>
          </p:cNvPr>
          <p:cNvSpPr txBox="1"/>
          <p:nvPr/>
        </p:nvSpPr>
        <p:spPr>
          <a:xfrm>
            <a:off x="3034680" y="600683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>
                <a:latin typeface="Abadi" panose="020B0604020104020204" pitchFamily="34" charset="0"/>
              </a:rPr>
              <a:t>Pérdidas de calor por efecto de convección: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2011411-F4A8-0BC9-2207-17567C0F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754" y="3284021"/>
            <a:ext cx="5696881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Qc1 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Tasa de pérdida de calor por convección [W/m].</a:t>
            </a:r>
          </a:p>
          <a:p>
            <a:pPr lvl="0" eaLnBrk="0" hangingPunct="0">
              <a:buFontTx/>
              <a:buChar char="•"/>
            </a:pPr>
            <a:r>
              <a:rPr lang="es-CL" altLang="es-CL" b="1" dirty="0" err="1">
                <a:latin typeface="Abadi" panose="020B0604020104020204" pitchFamily="34" charset="0"/>
                <a:cs typeface="Times New Roman" panose="02020603050405020304" pitchFamily="18" charset="0"/>
              </a:rPr>
              <a:t>kf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</a:t>
            </a:r>
            <a:r>
              <a:rPr lang="es-MX" dirty="0">
                <a:latin typeface="Abadi" panose="020B0604020104020204" pitchFamily="34" charset="0"/>
              </a:rPr>
              <a:t>Conductividad térmica de la película de aire cercana</a:t>
            </a:r>
          </a:p>
          <a:p>
            <a:pPr lvl="0" eaLnBrk="0" hangingPunct="0"/>
            <a:r>
              <a:rPr lang="es-MX" dirty="0">
                <a:latin typeface="Abadi" panose="020B0604020104020204" pitchFamily="34" charset="0"/>
              </a:rPr>
              <a:t> a la superficie del conductor [W/</a:t>
            </a:r>
            <a:r>
              <a:rPr lang="es-MX" dirty="0" err="1">
                <a:latin typeface="Abadi" panose="020B0604020104020204" pitchFamily="34" charset="0"/>
              </a:rPr>
              <a:t>m⋅°C</a:t>
            </a:r>
            <a:r>
              <a:rPr lang="es-MX" dirty="0">
                <a:latin typeface="Abadi" panose="020B0604020104020204" pitchFamily="34" charset="0"/>
              </a:rPr>
              <a:t>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T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Temperatura del conductor [°C].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Ta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Temperatura ambiente [</a:t>
            </a:r>
            <a:r>
              <a:rPr lang="es-CL" altLang="es-CL" dirty="0">
                <a:latin typeface="Abadi" panose="020B0604020104020204" pitchFamily="34" charset="0"/>
              </a:rPr>
              <a:t>°C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].</a:t>
            </a:r>
          </a:p>
          <a:p>
            <a:pPr lvl="0" eaLnBrk="0" hangingPunct="0">
              <a:buFontTx/>
              <a:buChar char="•"/>
            </a:pPr>
            <a:r>
              <a:rPr lang="es-CL" altLang="es-CL" b="1" dirty="0" err="1">
                <a:latin typeface="Abadi" panose="020B0604020104020204" pitchFamily="34" charset="0"/>
              </a:rPr>
              <a:t>Kangle</a:t>
            </a:r>
            <a:r>
              <a:rPr lang="es-CL" altLang="es-CL" b="1" dirty="0">
                <a:latin typeface="Abadi" panose="020B0604020104020204" pitchFamily="34" charset="0"/>
              </a:rPr>
              <a:t>: </a:t>
            </a:r>
            <a:r>
              <a:rPr lang="es-CL" dirty="0">
                <a:latin typeface="Abadi" panose="020B0604020104020204" pitchFamily="34" charset="0"/>
              </a:rPr>
              <a:t>Factor de ángulo,</a:t>
            </a:r>
            <a:endParaRPr kumimoji="0" lang="es-CL" altLang="es-CL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5BC6DE4-CB6E-4CFD-3F33-E98D83CC3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372" y="1354922"/>
            <a:ext cx="5847224" cy="682556"/>
          </a:xfrm>
          <a:prstGeom prst="rect">
            <a:avLst/>
          </a:prstGeom>
        </p:spPr>
      </p:pic>
      <p:pic>
        <p:nvPicPr>
          <p:cNvPr id="19" name="Imagen 18" descr="Nombre de la empresa&#10;&#10;El contenido generado por IA puede ser incorrecto.">
            <a:extLst>
              <a:ext uri="{FF2B5EF4-FFF2-40B4-BE49-F238E27FC236}">
                <a16:creationId xmlns:a16="http://schemas.microsoft.com/office/drawing/2014/main" id="{F66C8B58-51A3-DE69-B548-CB543D597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4752" y="2294832"/>
            <a:ext cx="5847224" cy="809746"/>
          </a:xfrm>
          <a:prstGeom prst="rect">
            <a:avLst/>
          </a:prstGeom>
        </p:spPr>
      </p:pic>
      <p:sp>
        <p:nvSpPr>
          <p:cNvPr id="20" name="Rectangle 2">
            <a:extLst>
              <a:ext uri="{FF2B5EF4-FFF2-40B4-BE49-F238E27FC236}">
                <a16:creationId xmlns:a16="http://schemas.microsoft.com/office/drawing/2014/main" id="{A448E7D5-E261-69F4-5BE9-9CC148027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461" y="5130681"/>
            <a:ext cx="6091348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Ajusta el cálculo según la dirección del viento.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Si el viento golpea perpendicular al cable (90°),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Kangle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= 1.</a:t>
            </a:r>
          </a:p>
          <a:p>
            <a:pPr eaLnBrk="0" hangingPunct="0"/>
            <a:r>
              <a:rPr lang="es-CL" altLang="es-CL" dirty="0">
                <a:latin typeface="Abadi" panose="020B0604020104020204" pitchFamily="34" charset="0"/>
              </a:rPr>
              <a:t>Si es paralelo, el enfriamiento es menor y el factor baja.</a:t>
            </a:r>
            <a:endParaRPr lang="es-CL" altLang="es-CL" dirty="0">
              <a:latin typeface="Google Sans Text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1150AD5-8BB9-8154-AD81-2839790346B9}"/>
              </a:ext>
            </a:extLst>
          </p:cNvPr>
          <p:cNvSpPr txBox="1"/>
          <p:nvPr/>
        </p:nvSpPr>
        <p:spPr>
          <a:xfrm>
            <a:off x="3275856" y="1124744"/>
            <a:ext cx="198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Abadi" panose="020B0604020104020204" pitchFamily="34" charset="0"/>
              </a:rPr>
              <a:t>Bajas velocidades:</a:t>
            </a:r>
            <a:endParaRPr lang="es-CL" dirty="0">
              <a:latin typeface="Abadi" panose="020B0604020104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D12F844-8381-3DB8-28D5-106C956E65C6}"/>
              </a:ext>
            </a:extLst>
          </p:cNvPr>
          <p:cNvSpPr txBox="1"/>
          <p:nvPr/>
        </p:nvSpPr>
        <p:spPr>
          <a:xfrm>
            <a:off x="3266012" y="1995940"/>
            <a:ext cx="4620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badi" panose="020B0604020104020204" pitchFamily="34" charset="0"/>
              </a:rPr>
              <a:t>Altas velocidades:</a:t>
            </a:r>
            <a:endParaRPr lang="es-CL" dirty="0">
              <a:latin typeface="Abadi" panose="020B06040201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D70CBA-2741-ADBE-E334-5DD13B084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241" y="6007844"/>
            <a:ext cx="6008246" cy="530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s-ES" sz="1050" dirty="0"/>
              <a:t>IEEE 738, se calculan ambos valores y se elige el mayor de los dos para ser conservador o más preciso según el régimen de flujo.</a:t>
            </a:r>
            <a:endParaRPr lang="es-CL" altLang="es-CL" sz="1050" dirty="0">
              <a:latin typeface="Arial" panose="020B0604020202020204" pitchFamily="34" charset="0"/>
            </a:endParaRPr>
          </a:p>
          <a:p>
            <a:pPr lvl="0" eaLnBrk="0" hangingPunct="0"/>
            <a:endParaRPr kumimoji="0" lang="es-CL" altLang="es-CL" sz="10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30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C9A39-BA74-4E2E-B45B-FCEEA4B2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5B84C44F-7A4C-0FDB-819D-E321FFAC8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7</a:t>
            </a:fld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CA9B0F65-A0CA-2647-1C94-BBBC1AEB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Formulas según IEEE 738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10C72DE-3D8E-03FB-5134-52D65D082A52}"/>
              </a:ext>
            </a:extLst>
          </p:cNvPr>
          <p:cNvSpPr txBox="1"/>
          <p:nvPr/>
        </p:nvSpPr>
        <p:spPr>
          <a:xfrm>
            <a:off x="179512" y="1308869"/>
            <a:ext cx="3845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Abadi" panose="020B0604020104020204" pitchFamily="34" charset="0"/>
              </a:rPr>
              <a:t>Temperatura de Película (</a:t>
            </a:r>
            <a:r>
              <a:rPr lang="es-MX" sz="2000" b="1" dirty="0" err="1">
                <a:latin typeface="Abadi" panose="020B0604020104020204" pitchFamily="34" charset="0"/>
              </a:rPr>
              <a:t>Tfilm</a:t>
            </a:r>
            <a:r>
              <a:rPr lang="es-MX" sz="2000" b="1" dirty="0">
                <a:latin typeface="Abadi" panose="020B0604020104020204" pitchFamily="34" charset="0"/>
              </a:rPr>
              <a:t>):</a:t>
            </a:r>
            <a:endParaRPr lang="es-CL" sz="2000" b="1" dirty="0">
              <a:latin typeface="Abadi" panose="020B0604020104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6EBC519-E7DC-0E37-D217-7ED02A5BEBEA}"/>
              </a:ext>
            </a:extLst>
          </p:cNvPr>
          <p:cNvSpPr txBox="1"/>
          <p:nvPr/>
        </p:nvSpPr>
        <p:spPr>
          <a:xfrm>
            <a:off x="179512" y="2420888"/>
            <a:ext cx="2654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Abadi" panose="020B0604020104020204" pitchFamily="34" charset="0"/>
              </a:rPr>
              <a:t>Propiedades del aire</a:t>
            </a:r>
            <a:endParaRPr lang="es-CL" sz="2000" b="1" dirty="0">
              <a:latin typeface="Abadi" panose="020B0604020104020204" pitchFamily="34" charset="0"/>
            </a:endParaRPr>
          </a:p>
        </p:txBody>
      </p:sp>
      <p:pic>
        <p:nvPicPr>
          <p:cNvPr id="12" name="Imagen 11" descr="Un reloj con números romanos&#10;&#10;El contenido generado por IA puede ser incorrecto.">
            <a:extLst>
              <a:ext uri="{FF2B5EF4-FFF2-40B4-BE49-F238E27FC236}">
                <a16:creationId xmlns:a16="http://schemas.microsoft.com/office/drawing/2014/main" id="{0EF3C5E7-3213-702E-D999-3D17C9E50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039" y="1706531"/>
            <a:ext cx="1795212" cy="58597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6492FBE-4A03-EB35-8A43-8C4988F33328}"/>
              </a:ext>
            </a:extLst>
          </p:cNvPr>
          <p:cNvSpPr txBox="1"/>
          <p:nvPr/>
        </p:nvSpPr>
        <p:spPr>
          <a:xfrm>
            <a:off x="169926" y="2786432"/>
            <a:ext cx="13420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>
                <a:latin typeface="Abadi" panose="020B0604020104020204" pitchFamily="34" charset="0"/>
              </a:rPr>
              <a:t>Densidad </a:t>
            </a:r>
            <a:r>
              <a:rPr lang="el-GR" sz="1600" dirty="0">
                <a:latin typeface="Abadi" panose="020B0604020104020204" pitchFamily="34" charset="0"/>
              </a:rPr>
              <a:t>ρ</a:t>
            </a:r>
            <a:r>
              <a:rPr lang="es-MX" sz="1600" dirty="0">
                <a:latin typeface="Abadi" panose="020B0604020104020204" pitchFamily="34" charset="0"/>
              </a:rPr>
              <a:t>f: </a:t>
            </a:r>
            <a:endParaRPr lang="es-CL" sz="1600" dirty="0">
              <a:latin typeface="Abadi" panose="020B060402010402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6204E0F-33EB-4E45-F9FF-ACDD4AA99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174122"/>
            <a:ext cx="4498848" cy="541174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5C79FB28-D76F-2021-53DA-21BF13B36E62}"/>
              </a:ext>
            </a:extLst>
          </p:cNvPr>
          <p:cNvSpPr txBox="1"/>
          <p:nvPr/>
        </p:nvSpPr>
        <p:spPr>
          <a:xfrm>
            <a:off x="147897" y="3821508"/>
            <a:ext cx="1405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>
                <a:latin typeface="Abadi" panose="020B0604020104020204" pitchFamily="34" charset="0"/>
              </a:rPr>
              <a:t>Viscosidad </a:t>
            </a:r>
            <a:r>
              <a:rPr lang="el-GR" sz="1600" dirty="0">
                <a:latin typeface="Abadi" panose="020B0604020104020204" pitchFamily="34" charset="0"/>
              </a:rPr>
              <a:t>μ</a:t>
            </a:r>
            <a:r>
              <a:rPr lang="es-MX" sz="1600" dirty="0">
                <a:latin typeface="Abadi" panose="020B0604020104020204" pitchFamily="34" charset="0"/>
              </a:rPr>
              <a:t>f:</a:t>
            </a:r>
            <a:endParaRPr lang="es-CL" sz="1600" dirty="0">
              <a:latin typeface="Abadi" panose="020B0604020104020204" pitchFamily="34" charset="0"/>
            </a:endParaRPr>
          </a:p>
        </p:txBody>
      </p:sp>
      <p:pic>
        <p:nvPicPr>
          <p:cNvPr id="19" name="Imagen 18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673C68FD-F35C-0EA6-1963-B654B8872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495" y="4209355"/>
            <a:ext cx="3810457" cy="622541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CCA50335-D38E-0E5F-E13E-40C8539AE349}"/>
              </a:ext>
            </a:extLst>
          </p:cNvPr>
          <p:cNvSpPr txBox="1"/>
          <p:nvPr/>
        </p:nvSpPr>
        <p:spPr>
          <a:xfrm>
            <a:off x="147896" y="4913660"/>
            <a:ext cx="2446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>
                <a:latin typeface="Abadi" panose="020B0604020104020204" pitchFamily="34" charset="0"/>
              </a:rPr>
              <a:t>Conductividad Térmica </a:t>
            </a:r>
            <a:r>
              <a:rPr lang="es-MX" sz="1600" dirty="0" err="1">
                <a:latin typeface="Abadi" panose="020B0604020104020204" pitchFamily="34" charset="0"/>
              </a:rPr>
              <a:t>kf</a:t>
            </a:r>
            <a:r>
              <a:rPr lang="es-MX" sz="1600" dirty="0">
                <a:latin typeface="Abadi" panose="020B0604020104020204" pitchFamily="34" charset="0"/>
              </a:rPr>
              <a:t>:</a:t>
            </a:r>
            <a:endParaRPr lang="es-CL" sz="1600" dirty="0">
              <a:latin typeface="Abadi" panose="020B0604020104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3890664-3F6B-2A38-B46C-3ED843D8633A}"/>
              </a:ext>
            </a:extLst>
          </p:cNvPr>
          <p:cNvSpPr txBox="1"/>
          <p:nvPr/>
        </p:nvSpPr>
        <p:spPr>
          <a:xfrm>
            <a:off x="5436096" y="2788938"/>
            <a:ext cx="234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latin typeface="Abadi" panose="020B0604020104020204" pitchFamily="34" charset="0"/>
              </a:rPr>
              <a:t>Número de Reynolds Re:</a:t>
            </a:r>
            <a:endParaRPr lang="es-CL" sz="1600" dirty="0">
              <a:latin typeface="Abadi" panose="020B0604020104020204" pitchFamily="34" charset="0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E8048B9B-71C8-ECF6-E1DE-32BB78D75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93" y="5390562"/>
            <a:ext cx="4411767" cy="31812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133D23E-142E-6921-9DBD-E19E0755FE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6096" y="3289952"/>
            <a:ext cx="2160240" cy="88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45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1849F-EA72-97F1-3992-05B47843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00366CF3-E786-9D86-94C0-43D1DAA6E34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C5FBECCE-167E-35A2-5AAE-E7230801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8</a:t>
            </a:fld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7E872B6-C7ED-C172-92BA-56E590415A29}"/>
              </a:ext>
            </a:extLst>
          </p:cNvPr>
          <p:cNvSpPr txBox="1"/>
          <p:nvPr/>
        </p:nvSpPr>
        <p:spPr>
          <a:xfrm>
            <a:off x="3034680" y="600683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>
                <a:latin typeface="Abadi" panose="020B0604020104020204" pitchFamily="34" charset="0"/>
              </a:rPr>
              <a:t>Pérdidas de calor por efecto de convección: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">
                <a:extLst>
                  <a:ext uri="{FF2B5EF4-FFF2-40B4-BE49-F238E27FC236}">
                    <a16:creationId xmlns:a16="http://schemas.microsoft.com/office/drawing/2014/main" id="{7DA1B623-A03E-8AF0-B2C0-7ECE12AD5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1840" y="3245056"/>
                <a:ext cx="5688632" cy="25391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l-GR" b="1" i="1" dirty="0"/>
                  <a:t>ϕ</a:t>
                </a:r>
                <a:r>
                  <a:rPr lang="el-GR" b="1" dirty="0"/>
                  <a:t> (</a:t>
                </a:r>
                <a:r>
                  <a:rPr lang="es-CL" b="1" dirty="0"/>
                  <a:t>Phi)</a:t>
                </a:r>
                <a:r>
                  <a:rPr lang="es-CL" dirty="0"/>
                  <a:t>: Es el ángulo entre la dirección del viento y el eje del cable.</a:t>
                </a:r>
              </a:p>
              <a:p>
                <a:endParaRPr lang="es-CL" dirty="0"/>
              </a:p>
              <a:p>
                <a:r>
                  <a:rPr lang="es-CL" dirty="0"/>
                  <a:t>Si </a:t>
                </a:r>
                <a14:m>
                  <m:oMath xmlns:m="http://schemas.openxmlformats.org/officeDocument/2006/math">
                    <m:r>
                      <a:rPr lang="es-CL" i="1"/>
                      <m:t>𝜙</m:t>
                    </m:r>
                    <m:r>
                      <a:rPr lang="es-CL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90</m:t>
                        </m:r>
                      </m:e>
                      <m:sup>
                        <m:r>
                          <a:rPr lang="ar-AE"/>
                          <m:t>∘</m:t>
                        </m:r>
                      </m:sup>
                    </m:sSup>
                    <m:r>
                      <a:rPr lang="es-CL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s-CL" dirty="0"/>
                  <a:t>perpendicular, el resultado da aproximadamente </a:t>
                </a:r>
                <a:r>
                  <a:rPr lang="es-CL" b="1" dirty="0"/>
                  <a:t>1</a:t>
                </a:r>
                <a:r>
                  <a:rPr lang="es-CL" dirty="0"/>
                  <a:t>.</a:t>
                </a:r>
              </a:p>
              <a:p>
                <a:endParaRPr lang="es-CL" dirty="0"/>
              </a:p>
              <a:p>
                <a:r>
                  <a:rPr lang="es-CL" dirty="0"/>
                  <a:t>Si </a:t>
                </a:r>
                <a14:m>
                  <m:oMath xmlns:m="http://schemas.openxmlformats.org/officeDocument/2006/math">
                    <m:r>
                      <a:rPr lang="es-CL" i="1"/>
                      <m:t>𝜙</m:t>
                    </m:r>
                    <m:r>
                      <a:rPr lang="es-CL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0</m:t>
                        </m:r>
                      </m:e>
                      <m:sup>
                        <m:r>
                          <a:rPr lang="ar-AE"/>
                          <m:t>∘</m:t>
                        </m:r>
                      </m:sup>
                    </m:sSup>
                  </m:oMath>
                </a14:m>
                <a:r>
                  <a:rPr lang="es-CL" dirty="0"/>
                  <a:t>, paralelo, el resultado da aproximadamente </a:t>
                </a:r>
                <a:r>
                  <a:rPr lang="es-CL" b="1" dirty="0"/>
                  <a:t>0.388</a:t>
                </a:r>
                <a:r>
                  <a:rPr lang="es-CL" dirty="0"/>
                  <a:t> (menos enfriamiento).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s-CL" altLang="es-CL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badi" panose="020B0604020104020204" pitchFamily="34" charset="0"/>
                </a:endParaRPr>
              </a:p>
            </p:txBody>
          </p:sp>
        </mc:Choice>
        <mc:Fallback>
          <p:sp>
            <p:nvSpPr>
              <p:cNvPr id="20" name="Rectangle 1">
                <a:extLst>
                  <a:ext uri="{FF2B5EF4-FFF2-40B4-BE49-F238E27FC236}">
                    <a16:creationId xmlns:a16="http://schemas.microsoft.com/office/drawing/2014/main" id="{7DA1B623-A03E-8AF0-B2C0-7ECE12AD5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1840" y="3245056"/>
                <a:ext cx="5688632" cy="2539157"/>
              </a:xfrm>
              <a:prstGeom prst="rect">
                <a:avLst/>
              </a:prstGeom>
              <a:blipFill>
                <a:blip r:embed="rId3"/>
                <a:stretch>
                  <a:fillRect l="-965" t="-263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4CF99B60-986C-7866-9CD5-C867675A1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104" y="1990741"/>
            <a:ext cx="6215896" cy="61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115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CC7C-993E-47D6-1B34-D4D0B3751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D02A245E-51F9-E67E-4451-A6E635E4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9</a:t>
            </a:fld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BE07E4B2-51C4-D87F-5976-D746696F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Ejemplo de Pérdidas por convección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482B554-A9A3-97C1-EE9A-B5A3179D7431}"/>
              </a:ext>
            </a:extLst>
          </p:cNvPr>
          <p:cNvSpPr txBox="1"/>
          <p:nvPr/>
        </p:nvSpPr>
        <p:spPr>
          <a:xfrm>
            <a:off x="179512" y="1308869"/>
            <a:ext cx="17981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Abadi" panose="020B0604020104020204" pitchFamily="34" charset="0"/>
              </a:rPr>
              <a:t>Para Santiago</a:t>
            </a:r>
            <a:endParaRPr lang="es-CL" sz="2000" b="1" dirty="0">
              <a:latin typeface="Abadi" panose="020B0604020104020204" pitchFamily="34" charset="0"/>
            </a:endParaRPr>
          </a:p>
        </p:txBody>
      </p:sp>
      <p:pic>
        <p:nvPicPr>
          <p:cNvPr id="8" name="Imagen 7" descr="Tabla&#10;&#10;El contenido generado por IA puede ser incorrecto.">
            <a:extLst>
              <a:ext uri="{FF2B5EF4-FFF2-40B4-BE49-F238E27FC236}">
                <a16:creationId xmlns:a16="http://schemas.microsoft.com/office/drawing/2014/main" id="{441025FE-8B78-DA71-9D52-5E803CA04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88" y="2047533"/>
            <a:ext cx="6296904" cy="403916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B2F056F-9903-13F2-2689-6785404F6513}"/>
              </a:ext>
            </a:extLst>
          </p:cNvPr>
          <p:cNvSpPr txBox="1"/>
          <p:nvPr/>
        </p:nvSpPr>
        <p:spPr>
          <a:xfrm>
            <a:off x="539552" y="1708979"/>
            <a:ext cx="61954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>
                <a:latin typeface="Aptos Mono" panose="020F0502020204030204" pitchFamily="49" charset="0"/>
              </a:rPr>
              <a:t>570 msnm, conductor D:0,0281m, Ts:75°C, v:1m/s, Viento perpendicular</a:t>
            </a:r>
            <a:endParaRPr lang="es-CL" sz="1600" dirty="0">
              <a:latin typeface="Aptos Mono" panose="020F0502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15BA5B0-6154-B912-7A24-488CD3DF79C3}"/>
              </a:ext>
            </a:extLst>
          </p:cNvPr>
          <p:cNvSpPr txBox="1"/>
          <p:nvPr/>
        </p:nvSpPr>
        <p:spPr>
          <a:xfrm>
            <a:off x="4568952" y="6060861"/>
            <a:ext cx="35173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600" dirty="0">
                <a:latin typeface="Aptos Mono" panose="020F0502020204030204" pitchFamily="49" charset="0"/>
              </a:rPr>
              <a:t>25% de Pérdida de ampacidad</a:t>
            </a:r>
            <a:endParaRPr lang="es-CL" sz="1600" dirty="0">
              <a:latin typeface="Aptos Mono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228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17B1-7482-2337-3959-1085F6C8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364EED3B-2DED-2092-3FF2-B27DCC94600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BA69E860-D4A7-CB62-333C-FC232E3A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10</a:t>
            </a:fld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8C98B41-987D-0922-3487-4BA737EF892B}"/>
              </a:ext>
            </a:extLst>
          </p:cNvPr>
          <p:cNvSpPr txBox="1"/>
          <p:nvPr/>
        </p:nvSpPr>
        <p:spPr>
          <a:xfrm>
            <a:off x="3131840" y="5360016"/>
            <a:ext cx="756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>
              <a:latin typeface="Abadi" panose="020F0502020204030204" pitchFamily="34" charset="0"/>
            </a:endParaRPr>
          </a:p>
          <a:p>
            <a:endParaRPr lang="es-CL" sz="1400" dirty="0">
              <a:latin typeface="Abad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F4D5998-0287-B9A8-5B0A-940121F08956}"/>
              </a:ext>
            </a:extLst>
          </p:cNvPr>
          <p:cNvSpPr txBox="1"/>
          <p:nvPr/>
        </p:nvSpPr>
        <p:spPr>
          <a:xfrm>
            <a:off x="3034680" y="600683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Abadi" panose="020F0502020204030204" pitchFamily="34" charset="0"/>
              </a:rPr>
              <a:t>Ganancia de Calor por radiación solar:</a:t>
            </a:r>
            <a:endParaRPr lang="es-CL" sz="2000" b="1" dirty="0">
              <a:latin typeface="Abadi" panose="020F0502020204030204" pitchFamily="34" charset="0"/>
            </a:endParaRPr>
          </a:p>
          <a:p>
            <a:endParaRPr lang="es-CL" sz="2000" b="1" dirty="0">
              <a:latin typeface="Abadi" panose="020F050202020403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14E853-6CCE-D272-75CA-DDD5894C9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535" y="2836880"/>
            <a:ext cx="5774914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Qsol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Tasa de ganancia de calor solar [W/m].</a:t>
            </a:r>
          </a:p>
          <a:p>
            <a:pPr lvl="0" eaLnBrk="0" hangingPunct="0">
              <a:buFontTx/>
              <a:buChar char="•"/>
            </a:pPr>
            <a:r>
              <a:rPr kumimoji="0" lang="el-GR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</a:t>
            </a:r>
            <a:r>
              <a:rPr lang="es-MX" sz="2000" dirty="0">
                <a:latin typeface="Abadi" panose="020B0604020104020204" pitchFamily="34" charset="0"/>
              </a:rPr>
              <a:t>coeficiente de absorción de radiación solar</a:t>
            </a:r>
          </a:p>
          <a:p>
            <a:pPr lvl="0" eaLnBrk="0" hangingPunct="0"/>
            <a:r>
              <a:rPr lang="es-MX" sz="2000" dirty="0">
                <a:latin typeface="Abadi" panose="020B0604020104020204" pitchFamily="34" charset="0"/>
              </a:rPr>
              <a:t> (varia según el estado del conductor)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 </a:t>
            </a:r>
          </a:p>
          <a:p>
            <a:pPr lvl="0" eaLnBrk="0" hangingPunct="0"/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Indica qué fracción de la luz solar absorbe el cable.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S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Densidad de flujo de calor solar global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irradiado [W/m^2].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Es la intensidad del sol que llega a la ubicación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del cable (depende de la hora, latitud y clima).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D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Diámetro del conductor [m].</a:t>
            </a:r>
          </a:p>
        </p:txBody>
      </p:sp>
      <p:pic>
        <p:nvPicPr>
          <p:cNvPr id="5" name="Imagen 4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3E34A701-44D2-1FF9-E1C7-175FBC88D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535" y="1412776"/>
            <a:ext cx="4265465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226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7E6B0-D105-0E85-F5EC-C3164F30B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365CDEDE-6E30-D8D0-2311-29153E991EF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D7C29B21-0F1F-1DCC-49BA-FD13D002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11</a:t>
            </a:fld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9F207A-BB8D-CADD-00A6-5AFF3014A12E}"/>
              </a:ext>
            </a:extLst>
          </p:cNvPr>
          <p:cNvSpPr txBox="1"/>
          <p:nvPr/>
        </p:nvSpPr>
        <p:spPr>
          <a:xfrm>
            <a:off x="3131840" y="5360016"/>
            <a:ext cx="756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>
              <a:latin typeface="Abadi" panose="020F0502020204030204" pitchFamily="34" charset="0"/>
            </a:endParaRPr>
          </a:p>
          <a:p>
            <a:endParaRPr lang="es-CL" sz="1400" dirty="0">
              <a:latin typeface="Abadi" panose="020F0502020204030204" pitchFamily="34" charset="0"/>
            </a:endParaRPr>
          </a:p>
        </p:txBody>
      </p:sp>
      <p:pic>
        <p:nvPicPr>
          <p:cNvPr id="28" name="Imagen 27" descr="Diagrama, Dibujo de ingeniería&#10;&#10;El contenido generado por IA puede ser incorrecto.">
            <a:extLst>
              <a:ext uri="{FF2B5EF4-FFF2-40B4-BE49-F238E27FC236}">
                <a16:creationId xmlns:a16="http://schemas.microsoft.com/office/drawing/2014/main" id="{D11E07EC-C773-D226-BF8A-DE4BDB964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9" y="-1"/>
            <a:ext cx="8942649" cy="4167647"/>
          </a:xfrm>
          <a:prstGeom prst="rect">
            <a:avLst/>
          </a:prstGeom>
        </p:spPr>
      </p:pic>
      <p:pic>
        <p:nvPicPr>
          <p:cNvPr id="30" name="Imagen 29" descr="Texto, Carta&#10;&#10;El contenido generado por IA puede ser incorrecto.">
            <a:extLst>
              <a:ext uri="{FF2B5EF4-FFF2-40B4-BE49-F238E27FC236}">
                <a16:creationId xmlns:a16="http://schemas.microsoft.com/office/drawing/2014/main" id="{8516B43C-4185-67AC-F09B-002E7DA2F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43" y="4166297"/>
            <a:ext cx="7409114" cy="252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14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90DFC-0605-841F-88BA-300C2B857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E7FF6E34-7A55-FF64-360C-4BE2157B480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AE638F42-72B5-D2C6-2F58-9A6A5F499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12</a:t>
            </a:fld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AE6EAF2-CD73-BC30-2D6C-FD427A88D84A}"/>
              </a:ext>
            </a:extLst>
          </p:cNvPr>
          <p:cNvSpPr txBox="1"/>
          <p:nvPr/>
        </p:nvSpPr>
        <p:spPr>
          <a:xfrm>
            <a:off x="-972616" y="3672019"/>
            <a:ext cx="756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>
              <a:latin typeface="Abadi" panose="020F0502020204030204" pitchFamily="34" charset="0"/>
            </a:endParaRPr>
          </a:p>
          <a:p>
            <a:endParaRPr lang="es-CL" sz="1400" dirty="0">
              <a:latin typeface="Abad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3F89310-AE9C-8E01-C423-AD05BD77A79B}"/>
              </a:ext>
            </a:extLst>
          </p:cNvPr>
          <p:cNvSpPr txBox="1"/>
          <p:nvPr/>
        </p:nvSpPr>
        <p:spPr>
          <a:xfrm>
            <a:off x="3034680" y="600683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Abadi" panose="020B0604020104020204" pitchFamily="34" charset="0"/>
              </a:rPr>
              <a:t>Coeficientes de absorción radiación solar según estado del conductor: </a:t>
            </a:r>
            <a:endParaRPr lang="es-CL" sz="2000" b="1" dirty="0">
              <a:latin typeface="Abadi" panose="020B0604020104020204" pitchFamily="34" charset="0"/>
            </a:endParaRPr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0E5B933C-83BA-FD58-C0D2-F61EB6CAA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909" y="2060848"/>
            <a:ext cx="6206239" cy="338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75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E3140-2693-359D-9E86-B18623D45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237909A6-C0C0-1917-73D0-F7A97B2E52D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67983FE0-1B56-AF1D-9737-F9317200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13</a:t>
            </a:fld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EF96F37-48AC-E781-EF91-3264C99CD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1954400"/>
            <a:ext cx="4786559" cy="62742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2248227-48AE-F455-D3C5-CF44F67C6ED4}"/>
              </a:ext>
            </a:extLst>
          </p:cNvPr>
          <p:cNvSpPr txBox="1"/>
          <p:nvPr/>
        </p:nvSpPr>
        <p:spPr>
          <a:xfrm>
            <a:off x="3131840" y="5360016"/>
            <a:ext cx="756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>
              <a:latin typeface="Abadi" panose="020F0502020204030204" pitchFamily="34" charset="0"/>
            </a:endParaRPr>
          </a:p>
          <a:p>
            <a:endParaRPr lang="es-CL" sz="1400" dirty="0">
              <a:latin typeface="Abad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F133102-2BE0-1690-DBAD-EDEA4410B201}"/>
              </a:ext>
            </a:extLst>
          </p:cNvPr>
          <p:cNvSpPr txBox="1"/>
          <p:nvPr/>
        </p:nvSpPr>
        <p:spPr>
          <a:xfrm>
            <a:off x="3034680" y="600683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Abadi" panose="020F0502020204030204" pitchFamily="34" charset="0"/>
              </a:rPr>
              <a:t>Pérdidas de Calor por radiación del conductor:</a:t>
            </a:r>
            <a:endParaRPr lang="es-CL" sz="2000" b="1" dirty="0">
              <a:latin typeface="Abadi" panose="020F0502020204030204" pitchFamily="34" charset="0"/>
            </a:endParaRPr>
          </a:p>
          <a:p>
            <a:endParaRPr lang="es-CL" sz="2000" b="1" dirty="0">
              <a:latin typeface="Abad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1DBA511-229D-9335-65A8-CD4E78209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8940" y="3717032"/>
            <a:ext cx="5715667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Qrad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Tasa de pérdida de calor por radiación [W/m].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Diámetro exterior del conductor [m].</a:t>
            </a:r>
          </a:p>
          <a:p>
            <a:pPr lvl="0" eaLnBrk="0" hangingPunct="0">
              <a:buFontTx/>
              <a:buChar char="•"/>
            </a:pPr>
            <a:r>
              <a:rPr lang="es-ES" dirty="0">
                <a:latin typeface="Abadi" panose="020B0604020104020204" pitchFamily="34" charset="0"/>
              </a:rPr>
              <a:t>ϵ 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Coeficiente de emisividad (Adimensional, 0 a 1).</a:t>
            </a:r>
          </a:p>
          <a:p>
            <a:pPr lvl="0" eaLnBrk="0" hangingPunct="0">
              <a:buFontTx/>
              <a:buChar char="•"/>
            </a:pPr>
            <a:r>
              <a:rPr lang="es-ES" dirty="0">
                <a:latin typeface="Abadi" panose="020B0604020104020204" pitchFamily="34" charset="0"/>
              </a:rPr>
              <a:t>σ : 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Constante de</a:t>
            </a:r>
            <a:r>
              <a:rPr lang="es-CL" altLang="es-CL" dirty="0">
                <a:latin typeface="Abadi" panose="020B0604020104020204" pitchFamily="34" charset="0"/>
              </a:rPr>
              <a:t> Stefan-Boltzmann </a:t>
            </a:r>
            <a:r>
              <a:rPr lang="es-CL" dirty="0"/>
              <a:t>5.67E-8 W/m2 *K4</a:t>
            </a:r>
            <a:endParaRPr lang="es-CL" altLang="es-CL" dirty="0">
              <a:latin typeface="Abadi" panose="020B0604020104020204" pitchFamily="34" charset="0"/>
            </a:endParaRPr>
          </a:p>
          <a:p>
            <a:pPr lvl="0" eaLnBrk="0" hangingPunct="0">
              <a:buFontTx/>
              <a:buChar char="•"/>
            </a:pPr>
            <a:r>
              <a:rPr lang="es-CL" altLang="es-CL" b="1" dirty="0" err="1">
                <a:latin typeface="Abadi" panose="020B0604020104020204" pitchFamily="34" charset="0"/>
              </a:rPr>
              <a:t>Ts</a:t>
            </a:r>
            <a:r>
              <a:rPr lang="es-CL" altLang="es-CL" b="1" dirty="0">
                <a:latin typeface="Abadi" panose="020B0604020104020204" pitchFamily="34" charset="0"/>
              </a:rPr>
              <a:t>: </a:t>
            </a:r>
            <a:r>
              <a:rPr lang="es-CL" altLang="es-CL" dirty="0">
                <a:latin typeface="Abadi" panose="020B0604020104020204" pitchFamily="34" charset="0"/>
              </a:rPr>
              <a:t>Temperatura del conductor [°C].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Ta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: Temperatura ambiente [</a:t>
            </a:r>
            <a:r>
              <a:rPr lang="es-CL" altLang="es-CL" dirty="0">
                <a:latin typeface="Abadi" panose="020B0604020104020204" pitchFamily="34" charset="0"/>
              </a:rPr>
              <a:t>°C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</a:rPr>
              <a:t>].</a:t>
            </a:r>
          </a:p>
        </p:txBody>
      </p:sp>
    </p:spTree>
    <p:extLst>
      <p:ext uri="{BB962C8B-B14F-4D97-AF65-F5344CB8AC3E}">
        <p14:creationId xmlns:p14="http://schemas.microsoft.com/office/powerpoint/2010/main" val="501212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7DA5A-FE18-7A0E-519B-8AEC8184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BD30E6BD-AF64-C956-46CF-8B6E23E70A9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1A86993D-E2E8-218A-FE73-30848BE5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14</a:t>
            </a:fld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14CE169-FDF7-51A9-C0AD-C6975BC6A74F}"/>
              </a:ext>
            </a:extLst>
          </p:cNvPr>
          <p:cNvSpPr txBox="1"/>
          <p:nvPr/>
        </p:nvSpPr>
        <p:spPr>
          <a:xfrm>
            <a:off x="-972616" y="3672019"/>
            <a:ext cx="7560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>
              <a:latin typeface="Abadi" panose="020F0502020204030204" pitchFamily="34" charset="0"/>
            </a:endParaRPr>
          </a:p>
          <a:p>
            <a:endParaRPr lang="es-CL" sz="1400" dirty="0">
              <a:latin typeface="Abad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13195F1-C319-78F1-90DF-0F2A0890BB10}"/>
              </a:ext>
            </a:extLst>
          </p:cNvPr>
          <p:cNvSpPr txBox="1"/>
          <p:nvPr/>
        </p:nvSpPr>
        <p:spPr>
          <a:xfrm>
            <a:off x="3034680" y="600683"/>
            <a:ext cx="56166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Abadi" panose="020B0604020104020204" pitchFamily="34" charset="0"/>
              </a:rPr>
              <a:t>Coeficientes de emisividad total de radiación, según conductor</a:t>
            </a:r>
            <a:r>
              <a:rPr lang="es-ES" sz="2000" b="1" dirty="0">
                <a:latin typeface="Abadi" panose="020B0604020104020204" pitchFamily="34" charset="0"/>
              </a:rPr>
              <a:t>:</a:t>
            </a:r>
            <a:endParaRPr lang="es-CL" sz="2000" b="1" dirty="0">
              <a:latin typeface="Abadi" panose="020B0604020104020204" pitchFamily="34" charset="0"/>
            </a:endParaRPr>
          </a:p>
          <a:p>
            <a:endParaRPr lang="es-CL" sz="2000" b="1" dirty="0">
              <a:latin typeface="Abadi" panose="020F0502020204030204" pitchFamily="34" charset="0"/>
            </a:endParaRPr>
          </a:p>
        </p:txBody>
      </p:sp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D7542F02-16A0-0165-7073-796AEBD19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257" y="526988"/>
            <a:ext cx="5264267" cy="3697905"/>
          </a:xfrm>
          <a:prstGeom prst="rect">
            <a:avLst/>
          </a:prstGeom>
        </p:spPr>
      </p:pic>
      <p:pic>
        <p:nvPicPr>
          <p:cNvPr id="2" name="Imagen 1" descr="Tabla&#10;&#10;El contenido generado por IA puede ser incorrecto.">
            <a:extLst>
              <a:ext uri="{FF2B5EF4-FFF2-40B4-BE49-F238E27FC236}">
                <a16:creationId xmlns:a16="http://schemas.microsoft.com/office/drawing/2014/main" id="{7B0405F3-9492-7D65-CA5A-4C2CBFDFC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1185" y="955545"/>
            <a:ext cx="5583233" cy="304539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924F768-5D5E-2689-5646-3724FB510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760" y="3931436"/>
            <a:ext cx="4176464" cy="2859056"/>
          </a:xfrm>
          <a:prstGeom prst="rect">
            <a:avLst/>
          </a:prstGeom>
        </p:spPr>
      </p:pic>
      <p:pic>
        <p:nvPicPr>
          <p:cNvPr id="6" name="Imagen 5" descr="Texto&#10;&#10;El contenido generado por IA puede ser incorrecto.">
            <a:extLst>
              <a:ext uri="{FF2B5EF4-FFF2-40B4-BE49-F238E27FC236}">
                <a16:creationId xmlns:a16="http://schemas.microsoft.com/office/drawing/2014/main" id="{C1A7C2EA-A432-DB1E-8260-DDCA3D2FA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47062" y="4615967"/>
            <a:ext cx="2772162" cy="800212"/>
          </a:xfrm>
          <a:prstGeom prst="rect">
            <a:avLst/>
          </a:prstGeom>
        </p:spPr>
      </p:pic>
      <p:pic>
        <p:nvPicPr>
          <p:cNvPr id="12" name="Imagen 11" descr="Imagen que contiene naranja, oscuro, luz, tráfico&#10;&#10;El contenido generado por IA puede ser incorrecto.">
            <a:extLst>
              <a:ext uri="{FF2B5EF4-FFF2-40B4-BE49-F238E27FC236}">
                <a16:creationId xmlns:a16="http://schemas.microsoft.com/office/drawing/2014/main" id="{9955BA8C-340E-EC72-7DC8-8D15F51868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79272" y="5399064"/>
            <a:ext cx="2791215" cy="523948"/>
          </a:xfrm>
          <a:prstGeom prst="rect">
            <a:avLst/>
          </a:prstGeom>
        </p:spPr>
      </p:pic>
      <p:pic>
        <p:nvPicPr>
          <p:cNvPr id="14" name="Imagen 13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D4AFD4CA-8DDF-4CA9-079B-0875DC0E3C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0860" y="5775352"/>
            <a:ext cx="4367364" cy="118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65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B1F3A-1799-C72F-ED79-A8E7DB78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C8D7F14C-C977-84F9-485E-5C83F11A028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0DFA8002-3E0C-BBBA-7765-288B5ED4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15</a:t>
            </a:fld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ACB310B-8862-8048-9C2A-0D3ED5B04DAB}"/>
              </a:ext>
            </a:extLst>
          </p:cNvPr>
          <p:cNvSpPr txBox="1"/>
          <p:nvPr/>
        </p:nvSpPr>
        <p:spPr>
          <a:xfrm>
            <a:off x="3059832" y="764704"/>
            <a:ext cx="5616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Abadi" panose="020F0502020204030204" pitchFamily="34" charset="0"/>
              </a:rPr>
              <a:t>Modelo Térmico Dinámico</a:t>
            </a:r>
            <a:endParaRPr lang="es-CL" sz="2000" b="1" dirty="0">
              <a:latin typeface="Abad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DF46D90-0DD7-00D1-2D8A-F18AE2268CD9}"/>
              </a:ext>
            </a:extLst>
          </p:cNvPr>
          <p:cNvSpPr txBox="1"/>
          <p:nvPr/>
        </p:nvSpPr>
        <p:spPr>
          <a:xfrm>
            <a:off x="3059832" y="3302700"/>
            <a:ext cx="5616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latin typeface="Abadi" panose="020B0604020104020204" pitchFamily="34" charset="0"/>
              </a:rPr>
              <a:t>m: </a:t>
            </a:r>
            <a:r>
              <a:rPr lang="es-MX" sz="1600" dirty="0">
                <a:latin typeface="Abadi" panose="020B0604020104020204" pitchFamily="34" charset="0"/>
              </a:rPr>
              <a:t>Es la masa por unidad de longitud del conductor.</a:t>
            </a:r>
            <a:r>
              <a:rPr lang="es-ES" sz="1600" dirty="0">
                <a:latin typeface="Abadi" panose="020B0604020104020204" pitchFamily="34" charset="0"/>
              </a:rPr>
              <a:t> [kg/m] </a:t>
            </a:r>
          </a:p>
          <a:p>
            <a:r>
              <a:rPr lang="es-ES" sz="1600" b="1" dirty="0" err="1">
                <a:latin typeface="Abadi" panose="020B0604020104020204" pitchFamily="34" charset="0"/>
              </a:rPr>
              <a:t>Cp</a:t>
            </a:r>
            <a:r>
              <a:rPr lang="es-ES" sz="1600" dirty="0">
                <a:latin typeface="Abadi" panose="020B0604020104020204" pitchFamily="34" charset="0"/>
              </a:rPr>
              <a:t>: </a:t>
            </a:r>
            <a:r>
              <a:rPr lang="es-MX" sz="1600" dirty="0">
                <a:latin typeface="Abadi" panose="020B0604020104020204" pitchFamily="34" charset="0"/>
              </a:rPr>
              <a:t>Es la capacidad calorífica específica del material del conductor. </a:t>
            </a:r>
            <a:r>
              <a:rPr lang="es-ES" sz="1600" dirty="0">
                <a:latin typeface="Abadi" panose="020B0604020104020204" pitchFamily="34" charset="0"/>
              </a:rPr>
              <a:t>[J/</a:t>
            </a:r>
            <a:r>
              <a:rPr lang="es-ES" sz="1600" dirty="0" err="1">
                <a:latin typeface="Abadi" panose="020B0604020104020204" pitchFamily="34" charset="0"/>
              </a:rPr>
              <a:t>kg·K</a:t>
            </a:r>
            <a:r>
              <a:rPr lang="es-ES" sz="1600" dirty="0">
                <a:latin typeface="Abadi" panose="020B0604020104020204" pitchFamily="34" charset="0"/>
              </a:rPr>
              <a:t>].</a:t>
            </a:r>
            <a:endParaRPr lang="es-CL" sz="1600" dirty="0">
              <a:latin typeface="Abadi" panose="020B0604020104020204" pitchFamily="34" charset="0"/>
            </a:endParaRP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B25F9DDC-AC68-6FE6-A262-E0135198D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1869953"/>
            <a:ext cx="5786130" cy="114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8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62330-0CE1-4534-C932-4782E5E5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B887808B-77F5-D72B-5E65-78ABAADF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16</a:t>
            </a:fld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E48F25D-A344-70B0-1650-B3E39DE73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Resultados Capacidad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0423D1C-5793-F0F7-11AD-F1B89713D672}"/>
              </a:ext>
            </a:extLst>
          </p:cNvPr>
          <p:cNvSpPr txBox="1"/>
          <p:nvPr/>
        </p:nvSpPr>
        <p:spPr>
          <a:xfrm>
            <a:off x="248061" y="1361383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Cálculo de Capacidades para Distintas Secciones y Condiciones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CDC10C2-AB40-971D-D32A-62AF3A8D0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24" y="2192380"/>
            <a:ext cx="8676456" cy="201622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6C23CE5-51EE-213C-39E3-11C5A33B9EF1}"/>
              </a:ext>
            </a:extLst>
          </p:cNvPr>
          <p:cNvSpPr txBox="1"/>
          <p:nvPr/>
        </p:nvSpPr>
        <p:spPr>
          <a:xfrm>
            <a:off x="232150" y="5546104"/>
            <a:ext cx="8566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La reducción de capacidad entre invierno y verano varía entre 14,7 % y 15,1 %</a:t>
            </a:r>
            <a:endParaRPr lang="es-CL" sz="1400" dirty="0">
              <a:latin typeface="Abadi" panose="020F0502020204030204" pitchFamily="34" charset="0"/>
            </a:endParaRPr>
          </a:p>
        </p:txBody>
      </p:sp>
      <p:pic>
        <p:nvPicPr>
          <p:cNvPr id="15" name="Imagen 14" descr="Texto&#10;&#10;El contenido generado por IA puede ser incorrecto.">
            <a:extLst>
              <a:ext uri="{FF2B5EF4-FFF2-40B4-BE49-F238E27FC236}">
                <a16:creationId xmlns:a16="http://schemas.microsoft.com/office/drawing/2014/main" id="{98DD04EB-9F1B-B49B-F62B-1F4DE2B3F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4293096"/>
            <a:ext cx="3723206" cy="904207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D59AF534-DA5D-70C9-CBC2-7729D7B46D20}"/>
              </a:ext>
            </a:extLst>
          </p:cNvPr>
          <p:cNvSpPr txBox="1"/>
          <p:nvPr/>
        </p:nvSpPr>
        <p:spPr>
          <a:xfrm>
            <a:off x="4644008" y="4375867"/>
            <a:ext cx="24742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Donde </a:t>
            </a:r>
            <a:r>
              <a:rPr lang="es-ES" sz="1400" dirty="0" err="1">
                <a:latin typeface="Abadi" panose="020F0502020204030204" pitchFamily="34" charset="0"/>
              </a:rPr>
              <a:t>Kangle</a:t>
            </a:r>
            <a:r>
              <a:rPr lang="es-ES" sz="1400" dirty="0">
                <a:latin typeface="Abadi" panose="020F0502020204030204" pitchFamily="34" charset="0"/>
              </a:rPr>
              <a:t>(ϕ) es el factor de corrección por dirección a la menos 1.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CB19438-FF67-4321-F2C9-7F2D23410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36" y="5178635"/>
            <a:ext cx="3315163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58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131840" y="1844824"/>
            <a:ext cx="5616624" cy="352839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endParaRPr lang="es-CL" sz="6000" b="1" dirty="0">
              <a:solidFill>
                <a:schemeClr val="accent6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algn="ctr">
              <a:spcBef>
                <a:spcPct val="20000"/>
              </a:spcBef>
            </a:pPr>
            <a:r>
              <a:rPr lang="es-CL" sz="6000" b="1" dirty="0">
                <a:solidFill>
                  <a:schemeClr val="accent6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Análisis de Sensibilidad</a:t>
            </a:r>
          </a:p>
        </p:txBody>
      </p:sp>
      <p:pic>
        <p:nvPicPr>
          <p:cNvPr id="7" name="6 Imagen" descr="icolor_azl_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17</a:t>
            </a:fld>
            <a:endParaRPr lang="es-CL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62F49-E3B0-6DCC-DC4E-6D39A082A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F7575E5C-3EF0-28B3-33E4-8C8244AC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18</a:t>
            </a:fld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4A2BE9CC-EBB2-72B6-EF8A-CF53A75E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Sensibilidad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62D2654-7DA0-088C-51F4-4E4D0260CC2E}"/>
              </a:ext>
            </a:extLst>
          </p:cNvPr>
          <p:cNvSpPr txBox="1"/>
          <p:nvPr/>
        </p:nvSpPr>
        <p:spPr>
          <a:xfrm>
            <a:off x="301752" y="1710845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Resultados de Análisis de Sensibilidad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32B3440-528D-89EA-B760-A2B5167DDCA7}"/>
              </a:ext>
            </a:extLst>
          </p:cNvPr>
          <p:cNvSpPr txBox="1"/>
          <p:nvPr/>
        </p:nvSpPr>
        <p:spPr>
          <a:xfrm>
            <a:off x="179512" y="5833147"/>
            <a:ext cx="8784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Abadi" panose="020F0502020204030204" pitchFamily="34" charset="0"/>
              </a:rPr>
              <a:t>”Los estándares internacionales para el cálculo de ampacidad (como la norma IEEE 738) recomiendan usar valores iguales cuando no se dispone de mediciones de campo precisas.”</a:t>
            </a:r>
            <a:endParaRPr lang="es-CL" sz="1200" dirty="0">
              <a:latin typeface="Abad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896352-7E4A-EF69-9E57-3F8672E51C00}"/>
              </a:ext>
            </a:extLst>
          </p:cNvPr>
          <p:cNvSpPr txBox="1"/>
          <p:nvPr/>
        </p:nvSpPr>
        <p:spPr>
          <a:xfrm>
            <a:off x="301752" y="2218701"/>
            <a:ext cx="633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Se realizó un análisis de sensibilidad sobre el conductor </a:t>
            </a:r>
            <a:r>
              <a:rPr lang="es-ES" sz="1400" dirty="0" err="1">
                <a:latin typeface="Abadi" panose="020F0502020204030204" pitchFamily="34" charset="0"/>
              </a:rPr>
              <a:t>Hawk</a:t>
            </a:r>
            <a:r>
              <a:rPr lang="es-ES" sz="1400" dirty="0">
                <a:latin typeface="Abadi" panose="020F0502020204030204" pitchFamily="34" charset="0"/>
              </a:rPr>
              <a:t> (240 mm²) en condiciones de verano (Ta = 30 ◦C, </a:t>
            </a:r>
            <a:r>
              <a:rPr lang="es-ES" sz="1400" dirty="0" err="1">
                <a:latin typeface="Abadi" panose="020F0502020204030204" pitchFamily="34" charset="0"/>
              </a:rPr>
              <a:t>Ts</a:t>
            </a:r>
            <a:r>
              <a:rPr lang="es-ES" sz="1400" dirty="0">
                <a:latin typeface="Abadi" panose="020F0502020204030204" pitchFamily="34" charset="0"/>
              </a:rPr>
              <a:t> = 75 ◦C) y vientos de 0.6 m/s.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F702C5-5C17-66AD-46E4-A8A596AF9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168" y="2804747"/>
            <a:ext cx="4176464" cy="285905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EB74662-0CDD-57A6-4309-B4F1159F3834}"/>
              </a:ext>
            </a:extLst>
          </p:cNvPr>
          <p:cNvSpPr txBox="1"/>
          <p:nvPr/>
        </p:nvSpPr>
        <p:spPr>
          <a:xfrm>
            <a:off x="5508104" y="4725144"/>
            <a:ext cx="588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15%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92061AE-ECC3-F869-A6EC-D69076158EEE}"/>
              </a:ext>
            </a:extLst>
          </p:cNvPr>
          <p:cNvSpPr txBox="1"/>
          <p:nvPr/>
        </p:nvSpPr>
        <p:spPr>
          <a:xfrm>
            <a:off x="5508104" y="5137447"/>
            <a:ext cx="588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13%</a:t>
            </a:r>
          </a:p>
        </p:txBody>
      </p:sp>
    </p:spTree>
    <p:extLst>
      <p:ext uri="{BB962C8B-B14F-4D97-AF65-F5344CB8AC3E}">
        <p14:creationId xmlns:p14="http://schemas.microsoft.com/office/powerpoint/2010/main" val="1328657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4106F-53DE-84C3-5499-63449274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9A8AA98E-BE48-233D-01C5-6524FE9F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19</a:t>
            </a:fld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98403A6-4AF2-AB18-0301-0706765F9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Sensibilidad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37A794F-B6A3-8BF0-59C9-19E374FFF8D0}"/>
              </a:ext>
            </a:extLst>
          </p:cNvPr>
          <p:cNvSpPr txBox="1"/>
          <p:nvPr/>
        </p:nvSpPr>
        <p:spPr>
          <a:xfrm>
            <a:off x="301752" y="1710845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Resultados de Análisis de Sensibilidad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A748B8C-4404-5B5D-C618-556034F79D0C}"/>
              </a:ext>
            </a:extLst>
          </p:cNvPr>
          <p:cNvSpPr txBox="1"/>
          <p:nvPr/>
        </p:nvSpPr>
        <p:spPr>
          <a:xfrm>
            <a:off x="179512" y="5833147"/>
            <a:ext cx="8784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Abadi" panose="020F0502020204030204" pitchFamily="34" charset="0"/>
              </a:rPr>
              <a:t>”Los estándares internacionales para el cálculo de ampacidad (como la norma IEEE 738) recomiendan usar valores iguales cuando no se dispone de mediciones de campo precisas.”</a:t>
            </a:r>
            <a:endParaRPr lang="es-CL" sz="1200" dirty="0">
              <a:latin typeface="Abad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3F50D04-0600-2FB9-E061-56DDE67A0A1E}"/>
              </a:ext>
            </a:extLst>
          </p:cNvPr>
          <p:cNvSpPr txBox="1"/>
          <p:nvPr/>
        </p:nvSpPr>
        <p:spPr>
          <a:xfrm>
            <a:off x="301752" y="2218701"/>
            <a:ext cx="6336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Se analizó el efecto de la velocidad del viento manteniendo α = 0,5 y ϵ = 0,5.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FCBF5D0-1A53-0FED-3687-CA9DC78FF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16" y="3154221"/>
            <a:ext cx="4727285" cy="1640721"/>
          </a:xfrm>
          <a:prstGeom prst="rect">
            <a:avLst/>
          </a:prstGeom>
        </p:spPr>
      </p:pic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3A5170CE-BC7B-7E11-03E5-AAD6A0429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794" y="3429000"/>
            <a:ext cx="3723206" cy="90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49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322DC-731B-B252-8837-E8CFB5E65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267B57C2-EF79-D1C1-4698-96749F912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20</a:t>
            </a:fld>
            <a:endParaRPr lang="es-CL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7017391-8A39-E1F2-65D3-48252173C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Sensibilidad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496B91D-2A5C-8B25-F58E-69413319FA61}"/>
              </a:ext>
            </a:extLst>
          </p:cNvPr>
          <p:cNvSpPr txBox="1"/>
          <p:nvPr/>
        </p:nvSpPr>
        <p:spPr>
          <a:xfrm>
            <a:off x="301752" y="1455188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Resultados de Análisis de Sensibilidad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0A28B45C-4F5C-2286-FDAF-C758DC590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969930"/>
            <a:ext cx="8953448" cy="433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06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434C3-9BD3-60BA-6F78-6DA3564EF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>
            <a:extLst>
              <a:ext uri="{FF2B5EF4-FFF2-40B4-BE49-F238E27FC236}">
                <a16:creationId xmlns:a16="http://schemas.microsoft.com/office/drawing/2014/main" id="{5F4E6411-B970-42AF-115A-CE3E4BDE2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792" y="692696"/>
            <a:ext cx="6480720" cy="396044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endParaRPr lang="es-CL" sz="6000" b="1" dirty="0">
              <a:solidFill>
                <a:schemeClr val="accent6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algn="ctr">
              <a:spcBef>
                <a:spcPct val="20000"/>
              </a:spcBef>
            </a:pPr>
            <a:r>
              <a:rPr lang="es-CL" sz="6000" b="1" dirty="0">
                <a:solidFill>
                  <a:schemeClr val="accent6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Análisis Comportamiento Transitorio</a:t>
            </a:r>
          </a:p>
        </p:txBody>
      </p:sp>
      <p:pic>
        <p:nvPicPr>
          <p:cNvPr id="7" name="6 Imagen" descr="icolor_azl_0.png">
            <a:extLst>
              <a:ext uri="{FF2B5EF4-FFF2-40B4-BE49-F238E27FC236}">
                <a16:creationId xmlns:a16="http://schemas.microsoft.com/office/drawing/2014/main" id="{89CEDCB8-2F69-0757-F601-0AB77F30B1D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576" y="692696"/>
            <a:ext cx="1656184" cy="2007009"/>
          </a:xfrm>
          <a:prstGeom prst="rect">
            <a:avLst/>
          </a:prstGeom>
        </p:spPr>
      </p:pic>
      <p:sp>
        <p:nvSpPr>
          <p:cNvPr id="9" name="1 Marcador de número de diapositiva">
            <a:extLst>
              <a:ext uri="{FF2B5EF4-FFF2-40B4-BE49-F238E27FC236}">
                <a16:creationId xmlns:a16="http://schemas.microsoft.com/office/drawing/2014/main" id="{26190B76-BEB6-3E74-07F8-6464527BB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78496" y="323379"/>
            <a:ext cx="457200" cy="441325"/>
          </a:xfrm>
        </p:spPr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21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1007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97D6-E0AE-62F6-2BF2-FD41933E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3604CABE-7B30-7BE7-EDDC-7B8FD487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22</a:t>
            </a:fld>
            <a:endParaRPr lang="es-C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4E82897-5FC3-027B-52B0-5BF1F84EC75C}"/>
              </a:ext>
            </a:extLst>
          </p:cNvPr>
          <p:cNvSpPr txBox="1"/>
          <p:nvPr/>
        </p:nvSpPr>
        <p:spPr>
          <a:xfrm>
            <a:off x="123192" y="215648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SYCAMORE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81AF773-25B8-20B5-F800-71E9D40944B2}"/>
              </a:ext>
            </a:extLst>
          </p:cNvPr>
          <p:cNvSpPr txBox="1"/>
          <p:nvPr/>
        </p:nvSpPr>
        <p:spPr>
          <a:xfrm>
            <a:off x="123192" y="571598"/>
            <a:ext cx="81586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Se estudió la respuesta temporal de dos conductores (</a:t>
            </a:r>
            <a:r>
              <a:rPr lang="es-ES" sz="1400" dirty="0" err="1">
                <a:latin typeface="Abadi" panose="020F0502020204030204" pitchFamily="34" charset="0"/>
              </a:rPr>
              <a:t>Sycamore</a:t>
            </a:r>
            <a:r>
              <a:rPr lang="es-ES" sz="1400" dirty="0">
                <a:latin typeface="Abadi" panose="020F0502020204030204" pitchFamily="34" charset="0"/>
              </a:rPr>
              <a:t> y Cardinal) partiendo de condiciones de régimen previo (70 % y 90 % de la carga nominal) y aplicando una sobrecarga del 120 %. El límite de temperatura se fijó en 100 ◦C.</a:t>
            </a:r>
          </a:p>
        </p:txBody>
      </p:sp>
      <p:pic>
        <p:nvPicPr>
          <p:cNvPr id="7" name="Imagen 6" descr="Tabla&#10;&#10;El contenido generado por IA puede ser incorrecto.">
            <a:extLst>
              <a:ext uri="{FF2B5EF4-FFF2-40B4-BE49-F238E27FC236}">
                <a16:creationId xmlns:a16="http://schemas.microsoft.com/office/drawing/2014/main" id="{96611CBF-9D7F-36C7-4CD6-4AD442E71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98" y="1808820"/>
            <a:ext cx="8758403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203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4C16-37E1-B4F9-9295-5CF65DC5E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ABCF60A6-7775-8174-661D-370BBE324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23</a:t>
            </a:fld>
            <a:endParaRPr lang="es-C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13D4A06-512F-940D-1549-9F9906782A76}"/>
              </a:ext>
            </a:extLst>
          </p:cNvPr>
          <p:cNvSpPr txBox="1"/>
          <p:nvPr/>
        </p:nvSpPr>
        <p:spPr>
          <a:xfrm>
            <a:off x="123192" y="215648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CARDINAL</a:t>
            </a:r>
            <a:endParaRPr lang="es-CL" sz="2400" b="1" dirty="0">
              <a:latin typeface="Abad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63504D7-FDF1-5B8E-8AD4-ED684C5603EF}"/>
              </a:ext>
            </a:extLst>
          </p:cNvPr>
          <p:cNvSpPr txBox="1"/>
          <p:nvPr/>
        </p:nvSpPr>
        <p:spPr>
          <a:xfrm>
            <a:off x="123192" y="571598"/>
            <a:ext cx="81586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badi" panose="020F0502020204030204" pitchFamily="34" charset="0"/>
              </a:rPr>
              <a:t>Se estudió la respuesta temporal de dos conductores (</a:t>
            </a:r>
            <a:r>
              <a:rPr lang="es-ES" sz="1400" dirty="0" err="1">
                <a:latin typeface="Abadi" panose="020F0502020204030204" pitchFamily="34" charset="0"/>
              </a:rPr>
              <a:t>Sycamore</a:t>
            </a:r>
            <a:r>
              <a:rPr lang="es-ES" sz="1400" dirty="0">
                <a:latin typeface="Abadi" panose="020F0502020204030204" pitchFamily="34" charset="0"/>
              </a:rPr>
              <a:t> y Cardinal) partiendo de condiciones de régimen previo (70 % y 90 % de la carga nominal) y aplicando una sobrecarga del 120 %. El límite de temperatura se fijó en 100 ◦C.</a:t>
            </a:r>
          </a:p>
        </p:txBody>
      </p:sp>
      <p:pic>
        <p:nvPicPr>
          <p:cNvPr id="5" name="Imagen 4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B8473988-77FD-791F-8103-2B8FFF9E1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8592"/>
            <a:ext cx="9144000" cy="367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034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3F691-F3DE-6BD1-9DE1-85860DB36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>
            <a:extLst>
              <a:ext uri="{FF2B5EF4-FFF2-40B4-BE49-F238E27FC236}">
                <a16:creationId xmlns:a16="http://schemas.microsoft.com/office/drawing/2014/main" id="{DBA18353-0FE2-AA4B-4257-B0ED21E50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6553565-B8EE-4423-A09D-8E7BFEAE9B4A}" type="slidenum">
              <a:rPr lang="es-CL" smtClean="0"/>
              <a:pPr>
                <a:defRPr/>
              </a:pPr>
              <a:t>24</a:t>
            </a:fld>
            <a:endParaRPr lang="es-CL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105E0AE-444A-E14C-2048-5B8DBDD88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9392"/>
            <a:ext cx="9144000" cy="691276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4085C13-576F-B9B0-FA27-4424AA515B76}"/>
              </a:ext>
            </a:extLst>
          </p:cNvPr>
          <p:cNvSpPr txBox="1"/>
          <p:nvPr/>
        </p:nvSpPr>
        <p:spPr>
          <a:xfrm>
            <a:off x="3391712" y="404664"/>
            <a:ext cx="2360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latin typeface="Abadi" panose="020F0502020204030204" pitchFamily="34" charset="0"/>
              </a:rPr>
              <a:t>COMPARACIÓN</a:t>
            </a:r>
            <a:endParaRPr lang="es-CL" sz="2400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955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30C86-3D6D-E73D-4AC9-B21221D5F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5 Marcador de número de diapositiva">
            <a:extLst>
              <a:ext uri="{FF2B5EF4-FFF2-40B4-BE49-F238E27FC236}">
                <a16:creationId xmlns:a16="http://schemas.microsoft.com/office/drawing/2014/main" id="{4377ED13-8B4A-E98E-F439-355D6C26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F10DF73-6D9C-478A-9C49-752D2C3C0043}" type="slidenum">
              <a:rPr lang="es-CL"/>
              <a:pPr/>
              <a:t>25</a:t>
            </a:fld>
            <a:endParaRPr lang="es-CL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38E6489-421D-ACF2-3B11-7CBDD47B7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648" y="764704"/>
            <a:ext cx="6400800" cy="719138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</a:pPr>
            <a:r>
              <a:rPr lang="es-CL" sz="3600" dirty="0">
                <a:latin typeface="Arial" pitchFamily="34" charset="0"/>
                <a:cs typeface="Arial" pitchFamily="34" charset="0"/>
              </a:rPr>
              <a:t>Conclusiones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82A909-06E2-C3E2-48C0-56C698E26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2640774"/>
            <a:ext cx="8568952" cy="3596537"/>
          </a:xfrm>
        </p:spPr>
        <p:txBody>
          <a:bodyPr>
            <a:normAutofit/>
          </a:bodyPr>
          <a:lstStyle/>
          <a:p>
            <a:pPr algn="just"/>
            <a:r>
              <a:rPr lang="es-ES" sz="1200" dirty="0">
                <a:latin typeface="Aptos Mono" panose="020B0009020202020204" pitchFamily="49" charset="0"/>
              </a:rPr>
              <a:t>1. La capacidad de transmisión de conductores se ve significativamente afectada por la temperatura ambiente, con reducciones del 15 % entre condiciones</a:t>
            </a:r>
          </a:p>
          <a:p>
            <a:pPr algn="just"/>
            <a:r>
              <a:rPr lang="es-ES" sz="1200" dirty="0">
                <a:latin typeface="Aptos Mono" panose="020B0009020202020204" pitchFamily="49" charset="0"/>
              </a:rPr>
              <a:t>de invierno y verano.</a:t>
            </a:r>
          </a:p>
          <a:p>
            <a:pPr algn="just"/>
            <a:r>
              <a:rPr lang="es-ES" sz="1200" dirty="0">
                <a:latin typeface="Aptos Mono" panose="020B0009020202020204" pitchFamily="49" charset="0"/>
              </a:rPr>
              <a:t>2. Los parámetros (α y ϵ) influyen en la capacidad hasta en un 15 %, siendo óptima la combinación de baja absorción y alta emisión.</a:t>
            </a:r>
          </a:p>
          <a:p>
            <a:pPr algn="just"/>
            <a:r>
              <a:rPr lang="es-ES" sz="1200" dirty="0">
                <a:latin typeface="Aptos Mono" panose="020B0009020202020204" pitchFamily="49" charset="0"/>
              </a:rPr>
              <a:t>3. La velocidad del viento es el factor ambiental más crítico, pudiendo duplicar la capacidad de transporte en condiciones de viento fuerte (10 m/s).</a:t>
            </a:r>
          </a:p>
          <a:p>
            <a:pPr algn="just"/>
            <a:r>
              <a:rPr lang="es-ES" sz="1200" dirty="0">
                <a:latin typeface="Aptos Mono" panose="020B0009020202020204" pitchFamily="49" charset="0"/>
              </a:rPr>
              <a:t>4. Los conductores de mayor sección no solo tienen mayor capacidad nominal, sino también mayor tolerancia a sobrecargas temporales debido a su mayor inercia térmica.</a:t>
            </a:r>
          </a:p>
          <a:p>
            <a:pPr algn="just"/>
            <a:r>
              <a:rPr lang="es-ES" sz="1200" dirty="0">
                <a:latin typeface="Aptos Mono" panose="020B0009020202020204" pitchFamily="49" charset="0"/>
              </a:rPr>
              <a:t>5. existen márgenes de seguridad </a:t>
            </a:r>
            <a:r>
              <a:rPr lang="es-ES" sz="1200">
                <a:latin typeface="Aptos Mono" panose="020B0009020202020204" pitchFamily="49" charset="0"/>
              </a:rPr>
              <a:t>considerablespara</a:t>
            </a:r>
            <a:r>
              <a:rPr lang="es-ES" sz="1200" dirty="0">
                <a:latin typeface="Aptos Mono" panose="020B0009020202020204" pitchFamily="49" charset="0"/>
              </a:rPr>
              <a:t> sobrecargas temporales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020622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1322</TotalTime>
  <Words>1112</Words>
  <Application>Microsoft Office PowerPoint</Application>
  <PresentationFormat>Presentación en pantalla (4:3)</PresentationFormat>
  <Paragraphs>137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6" baseType="lpstr">
      <vt:lpstr>Abadi</vt:lpstr>
      <vt:lpstr>ADLaM Display</vt:lpstr>
      <vt:lpstr>Aptos Mono</vt:lpstr>
      <vt:lpstr>Arial</vt:lpstr>
      <vt:lpstr>Cambria Math</vt:lpstr>
      <vt:lpstr>Georgia</vt:lpstr>
      <vt:lpstr>Google Sans Text</vt:lpstr>
      <vt:lpstr>Times New Roman</vt:lpstr>
      <vt:lpstr>Wingdings</vt:lpstr>
      <vt:lpstr>Wingdings 2</vt:lpstr>
      <vt:lpstr>Civil</vt:lpstr>
      <vt:lpstr>Presentación de PowerPoint</vt:lpstr>
      <vt:lpstr>Presentación de PowerPoint</vt:lpstr>
      <vt:lpstr>Presentación de PowerPoint</vt:lpstr>
      <vt:lpstr>CONDUCTORES COMERCIALES</vt:lpstr>
      <vt:lpstr>Presentación de PowerPoint</vt:lpstr>
      <vt:lpstr>Presentación de PowerPoint</vt:lpstr>
      <vt:lpstr>Formulas según IEEE 738</vt:lpstr>
      <vt:lpstr>Presentación de PowerPoint</vt:lpstr>
      <vt:lpstr>Ejemplo de Pérdidas por convección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 Capacidad</vt:lpstr>
      <vt:lpstr>Presentación de PowerPoint</vt:lpstr>
      <vt:lpstr>Sensibilidad</vt:lpstr>
      <vt:lpstr>Sensibilidad</vt:lpstr>
      <vt:lpstr>Sensibilidad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Synapsis IT Ltda Grupo Endesa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chilectra</dc:creator>
  <cp:lastModifiedBy>Matias Malverde Cancino</cp:lastModifiedBy>
  <cp:revision>36</cp:revision>
  <dcterms:created xsi:type="dcterms:W3CDTF">2013-03-16T19:26:18Z</dcterms:created>
  <dcterms:modified xsi:type="dcterms:W3CDTF">2026-01-16T01:13:42Z</dcterms:modified>
</cp:coreProperties>
</file>